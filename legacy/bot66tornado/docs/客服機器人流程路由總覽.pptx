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355d3fd742443e1" /><Relationship Type="http://schemas.openxmlformats.org/officeDocument/2006/relationships/extended-properties" Target="/docProps/app.xml" Id="Rf4f67b0295db4e99" /><Relationship Type="http://schemas.openxmlformats.org/officeDocument/2006/relationships/officeDocument" Target="/ppt/presentation.xml" Id="R94d0154e713c49a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8a09ff18c854dc3"/>
  </p:sldMasterIdLst>
  <p:notesMasterIdLst>
    <p:notesMasterId xmlns:r="http://schemas.openxmlformats.org/officeDocument/2006/relationships" r:id="Rf8a46b1bbf0e47ab"/>
  </p:notesMasterIdLst>
  <p:sldIdLst>
    <p:sldId xmlns:r="http://schemas.openxmlformats.org/officeDocument/2006/relationships" id="256" r:id="Rda14b42d81124511"/>
    <p:sldId xmlns:r="http://schemas.openxmlformats.org/officeDocument/2006/relationships" id="257" r:id="Re190dea0d17b49c3"/>
    <p:sldId xmlns:r="http://schemas.openxmlformats.org/officeDocument/2006/relationships" id="258" r:id="Rf2999587b9f34050"/>
    <p:sldId xmlns:r="http://schemas.openxmlformats.org/officeDocument/2006/relationships" id="259" r:id="R5ff425bf222847cd"/>
    <p:sldId xmlns:r="http://schemas.openxmlformats.org/officeDocument/2006/relationships" id="260" r:id="Rbe24b058928d433d"/>
    <p:sldId xmlns:r="http://schemas.openxmlformats.org/officeDocument/2006/relationships" id="261" r:id="Rffa9e5c1dc0245d7"/>
    <p:sldId xmlns:r="http://schemas.openxmlformats.org/officeDocument/2006/relationships" id="262" r:id="R7e8201ad354e4032"/>
    <p:sldId xmlns:r="http://schemas.openxmlformats.org/officeDocument/2006/relationships" id="263" r:id="R7ce292ff147541d1"/>
    <p:sldId xmlns:r="http://schemas.openxmlformats.org/officeDocument/2006/relationships" id="264" r:id="R286f3545604e47d7"/>
    <p:sldId xmlns:r="http://schemas.openxmlformats.org/officeDocument/2006/relationships" id="265" r:id="R4e65afb2db11457a"/>
    <p:sldId xmlns:r="http://schemas.openxmlformats.org/officeDocument/2006/relationships" id="266" r:id="R002ab0ed0b514004"/>
    <p:sldId xmlns:r="http://schemas.openxmlformats.org/officeDocument/2006/relationships" id="267" r:id="R33dcec2141e34b20"/>
    <p:sldId xmlns:r="http://schemas.openxmlformats.org/officeDocument/2006/relationships" id="268" r:id="R1e903d42a7994a71"/>
    <p:sldId xmlns:r="http://schemas.openxmlformats.org/officeDocument/2006/relationships" id="269" r:id="R80a4a0e007fb4fe0"/>
    <p:sldId xmlns:r="http://schemas.openxmlformats.org/officeDocument/2006/relationships" id="270" r:id="Rf8b6aa66b6b54e25"/>
    <p:sldId xmlns:r="http://schemas.openxmlformats.org/officeDocument/2006/relationships" id="271" r:id="Rd9f0fcbff4db4094"/>
    <p:sldId xmlns:r="http://schemas.openxmlformats.org/officeDocument/2006/relationships" id="272" r:id="Rd66a0dd639764195"/>
    <p:sldId xmlns:r="http://schemas.openxmlformats.org/officeDocument/2006/relationships" id="273" r:id="Rd74acc3558554c0c"/>
    <p:sldId xmlns:r="http://schemas.openxmlformats.org/officeDocument/2006/relationships" id="274" r:id="R010df340d70546dc"/>
    <p:sldId xmlns:r="http://schemas.openxmlformats.org/officeDocument/2006/relationships" id="275" r:id="Rb38b2660b5e04dd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d0bda6922d749eb" /><Relationship Type="http://schemas.openxmlformats.org/officeDocument/2006/relationships/slideMaster" Target="/ppt/slideMasters/slideMaster1.xml" Id="R98a09ff18c854dc3" /><Relationship Type="http://schemas.openxmlformats.org/officeDocument/2006/relationships/notesMaster" Target="/ppt/notesMasters/notesMaster1.xml" Id="Rf8a46b1bbf0e47ab" /><Relationship Type="http://schemas.openxmlformats.org/officeDocument/2006/relationships/presProps" Target="/ppt/presProps.xml" Id="R0849c7d5c7af4761" /><Relationship Type="http://schemas.openxmlformats.org/officeDocument/2006/relationships/viewProps" Target="/ppt/viewProps.xml" Id="R6a7e59d3da494176" /><Relationship Type="http://schemas.openxmlformats.org/officeDocument/2006/relationships/tableStyles" Target="/ppt/tableStyles.xml" Id="R77969985e0354333" /><Relationship Type="http://schemas.openxmlformats.org/officeDocument/2006/relationships/slide" Target="/ppt/slides/slide1.xml" Id="Rda14b42d81124511" /><Relationship Type="http://schemas.openxmlformats.org/officeDocument/2006/relationships/slide" Target="/ppt/slides/slide2.xml" Id="Re190dea0d17b49c3" /><Relationship Type="http://schemas.openxmlformats.org/officeDocument/2006/relationships/slide" Target="/ppt/slides/slide3.xml" Id="Rf2999587b9f34050" /><Relationship Type="http://schemas.openxmlformats.org/officeDocument/2006/relationships/slide" Target="/ppt/slides/slide4.xml" Id="R5ff425bf222847cd" /><Relationship Type="http://schemas.openxmlformats.org/officeDocument/2006/relationships/slide" Target="/ppt/slides/slide5.xml" Id="Rbe24b058928d433d" /><Relationship Type="http://schemas.openxmlformats.org/officeDocument/2006/relationships/slide" Target="/ppt/slides/slide6.xml" Id="Rffa9e5c1dc0245d7" /><Relationship Type="http://schemas.openxmlformats.org/officeDocument/2006/relationships/slide" Target="/ppt/slides/slide7.xml" Id="R7e8201ad354e4032" /><Relationship Type="http://schemas.openxmlformats.org/officeDocument/2006/relationships/slide" Target="/ppt/slides/slide8.xml" Id="R7ce292ff147541d1" /><Relationship Type="http://schemas.openxmlformats.org/officeDocument/2006/relationships/slide" Target="/ppt/slides/slide9.xml" Id="R286f3545604e47d7" /><Relationship Type="http://schemas.openxmlformats.org/officeDocument/2006/relationships/slide" Target="/ppt/slides/slide10.xml" Id="R4e65afb2db11457a" /><Relationship Type="http://schemas.openxmlformats.org/officeDocument/2006/relationships/slide" Target="/ppt/slides/slide11.xml" Id="R002ab0ed0b514004" /><Relationship Type="http://schemas.openxmlformats.org/officeDocument/2006/relationships/slide" Target="/ppt/slides/slide12.xml" Id="R33dcec2141e34b20" /><Relationship Type="http://schemas.openxmlformats.org/officeDocument/2006/relationships/slide" Target="/ppt/slides/slide13.xml" Id="R1e903d42a7994a71" /><Relationship Type="http://schemas.openxmlformats.org/officeDocument/2006/relationships/slide" Target="/ppt/slides/slide14.xml" Id="R80a4a0e007fb4fe0" /><Relationship Type="http://schemas.openxmlformats.org/officeDocument/2006/relationships/slide" Target="/ppt/slides/slide15.xml" Id="Rf8b6aa66b6b54e25" /><Relationship Type="http://schemas.openxmlformats.org/officeDocument/2006/relationships/slide" Target="/ppt/slides/slide16.xml" Id="Rd9f0fcbff4db4094" /><Relationship Type="http://schemas.openxmlformats.org/officeDocument/2006/relationships/slide" Target="/ppt/slides/slide17.xml" Id="Rd66a0dd639764195" /><Relationship Type="http://schemas.openxmlformats.org/officeDocument/2006/relationships/slide" Target="/ppt/slides/slide18.xml" Id="Rd74acc3558554c0c" /><Relationship Type="http://schemas.openxmlformats.org/officeDocument/2006/relationships/slide" Target="/ppt/slides/slide19.xml" Id="R010df340d70546dc" /><Relationship Type="http://schemas.openxmlformats.org/officeDocument/2006/relationships/slide" Target="/ppt/slides/slide20.xml" Id="Rb38b2660b5e04dd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554a9a85798419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72f880319124fff" /><Relationship Type="http://schemas.openxmlformats.org/officeDocument/2006/relationships/notesMaster" Target="/ppt/notesMasters/notesMaster1.xml" Id="R56d8f6d3c7d7456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052a13d5e214dce" /><Relationship Type="http://schemas.openxmlformats.org/officeDocument/2006/relationships/notesMaster" Target="/ppt/notesMasters/notesMaster1.xml" Id="Rc563b5e168be4dc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6a0e51597be4994" /><Relationship Type="http://schemas.openxmlformats.org/officeDocument/2006/relationships/notesMaster" Target="/ppt/notesMasters/notesMaster1.xml" Id="Rb6659484d14c45b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55c146d80f34c24" /><Relationship Type="http://schemas.openxmlformats.org/officeDocument/2006/relationships/notesMaster" Target="/ppt/notesMasters/notesMaster1.xml" Id="R79f5e64b55b3425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7a75a5b81964139" /><Relationship Type="http://schemas.openxmlformats.org/officeDocument/2006/relationships/notesMaster" Target="/ppt/notesMasters/notesMaster1.xml" Id="R717fe0b159cc4e2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3364dc08bc14523" /><Relationship Type="http://schemas.openxmlformats.org/officeDocument/2006/relationships/notesMaster" Target="/ppt/notesMasters/notesMaster1.xml" Id="Rda6552183d7e45d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cb8ff7b729b4966" /><Relationship Type="http://schemas.openxmlformats.org/officeDocument/2006/relationships/notesMaster" Target="/ppt/notesMasters/notesMaster1.xml" Id="Rcc0f56ffb33f460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1b3978b138b4c2d" /><Relationship Type="http://schemas.openxmlformats.org/officeDocument/2006/relationships/notesMaster" Target="/ppt/notesMasters/notesMaster1.xml" Id="R4c4b2a95a6334dd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e1a8ae2613047ca" /><Relationship Type="http://schemas.openxmlformats.org/officeDocument/2006/relationships/notesMaster" Target="/ppt/notesMasters/notesMaster1.xml" Id="R2c4b6eda228f42f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e39ecdd76a64033" /><Relationship Type="http://schemas.openxmlformats.org/officeDocument/2006/relationships/notesMaster" Target="/ppt/notesMasters/notesMaster1.xml" Id="R5725c5823c3d48b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707081a7c58404f" /><Relationship Type="http://schemas.openxmlformats.org/officeDocument/2006/relationships/notesMaster" Target="/ppt/notesMasters/notesMaster1.xml" Id="Rb5092d3e8f98456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ea64a14c9f44897" /><Relationship Type="http://schemas.openxmlformats.org/officeDocument/2006/relationships/notesMaster" Target="/ppt/notesMasters/notesMaster1.xml" Id="Rb6b8e31b6c414a4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b8695bf493d42f5" /><Relationship Type="http://schemas.openxmlformats.org/officeDocument/2006/relationships/notesMaster" Target="/ppt/notesMasters/notesMaster1.xml" Id="Rfe20276112424fe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0b6310207f34122" /><Relationship Type="http://schemas.openxmlformats.org/officeDocument/2006/relationships/notesMaster" Target="/ppt/notesMasters/notesMaster1.xml" Id="Red2668bddd1f4a5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360bef3b1814c20" /><Relationship Type="http://schemas.openxmlformats.org/officeDocument/2006/relationships/notesMaster" Target="/ppt/notesMasters/notesMaster1.xml" Id="R6b35c9bc6ec9447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b3eab1241e34922" /><Relationship Type="http://schemas.openxmlformats.org/officeDocument/2006/relationships/notesMaster" Target="/ppt/notesMasters/notesMaster1.xml" Id="R6c36e1e871c64f2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8268ceaa65f423d" /><Relationship Type="http://schemas.openxmlformats.org/officeDocument/2006/relationships/notesMaster" Target="/ppt/notesMasters/notesMaster1.xml" Id="Rb25306a8611c445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8fdb443d7a346c5" /><Relationship Type="http://schemas.openxmlformats.org/officeDocument/2006/relationships/notesMaster" Target="/ppt/notesMasters/notesMaster1.xml" Id="R9490ff73e7b14ad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2da142cf6694b5b" /><Relationship Type="http://schemas.openxmlformats.org/officeDocument/2006/relationships/notesMaster" Target="/ppt/notesMasters/notesMaster1.xml" Id="R4f61ae33c54e4b9c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4e5c02453aac476e" /><Relationship Type="http://schemas.openxmlformats.org/officeDocument/2006/relationships/notesMaster" Target="/ppt/notesMasters/notesMaster1.xml" Id="R1190afea6d8e4eb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bf2853d19046c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1eb3c526db8479c" /><Relationship Type="http://schemas.openxmlformats.org/officeDocument/2006/relationships/slideLayout" Target="/ppt/slideLayouts/slideLayout1.xml" Id="R5a3771c409f04de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a3771c409f04de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05108898434d59" /><Relationship Type="http://schemas.openxmlformats.org/officeDocument/2006/relationships/notesSlide" Target="/ppt/notesSlides/notesSlide1.xml" Id="R584c0a1bdb54474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eb7e6d42b74d78" /><Relationship Type="http://schemas.openxmlformats.org/officeDocument/2006/relationships/notesSlide" Target="/ppt/notesSlides/notesSlide2.xml" Id="R82269e11408c4b2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20931667fb4923" /><Relationship Type="http://schemas.openxmlformats.org/officeDocument/2006/relationships/notesSlide" Target="/ppt/notesSlides/notesSlide3.xml" Id="Rf059bd6cf41f43f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88773db3424b41" /><Relationship Type="http://schemas.openxmlformats.org/officeDocument/2006/relationships/notesSlide" Target="/ppt/notesSlides/notesSlide4.xml" Id="R403717e914fe49d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6ae714d8b4461d" /><Relationship Type="http://schemas.openxmlformats.org/officeDocument/2006/relationships/notesSlide" Target="/ppt/notesSlides/notesSlide5.xml" Id="Rf81ed93b1ff64c2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b9c33c80ef4cc4" /><Relationship Type="http://schemas.openxmlformats.org/officeDocument/2006/relationships/notesSlide" Target="/ppt/notesSlides/notesSlide6.xml" Id="Red2a1df3bd1948f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e3961e40b5448d" /><Relationship Type="http://schemas.openxmlformats.org/officeDocument/2006/relationships/notesSlide" Target="/ppt/notesSlides/notesSlide7.xml" Id="R1a7bfb46410247e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6e1158abc1450a" /><Relationship Type="http://schemas.openxmlformats.org/officeDocument/2006/relationships/notesSlide" Target="/ppt/notesSlides/notesSlide8.xml" Id="R28ab00a287254d3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d1d65640d64530" /><Relationship Type="http://schemas.openxmlformats.org/officeDocument/2006/relationships/notesSlide" Target="/ppt/notesSlides/notesSlide9.xml" Id="R8d0876c40083442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1821bcf5a14944" /><Relationship Type="http://schemas.openxmlformats.org/officeDocument/2006/relationships/notesSlide" Target="/ppt/notesSlides/notesSlide10.xml" Id="Rc773947f60b94ec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b534a815a445cb" /><Relationship Type="http://schemas.openxmlformats.org/officeDocument/2006/relationships/notesSlide" Target="/ppt/notesSlides/notesSlide11.xml" Id="Ra91d218663194d9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8e1b383a7543ff" /><Relationship Type="http://schemas.openxmlformats.org/officeDocument/2006/relationships/notesSlide" Target="/ppt/notesSlides/notesSlide12.xml" Id="R0b4a0b9b0b43492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f4a1b18a734cc2" /><Relationship Type="http://schemas.openxmlformats.org/officeDocument/2006/relationships/notesSlide" Target="/ppt/notesSlides/notesSlide13.xml" Id="Rb79830c9d3e6471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2b367ad4384345" /><Relationship Type="http://schemas.openxmlformats.org/officeDocument/2006/relationships/notesSlide" Target="/ppt/notesSlides/notesSlide14.xml" Id="R6fcf44c8afe14b4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ecc7982abd4090" /><Relationship Type="http://schemas.openxmlformats.org/officeDocument/2006/relationships/notesSlide" Target="/ppt/notesSlides/notesSlide15.xml" Id="R2266560e1770434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179eccdf3d4261" /><Relationship Type="http://schemas.openxmlformats.org/officeDocument/2006/relationships/notesSlide" Target="/ppt/notesSlides/notesSlide16.xml" Id="Re66d05b79203492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a19b7942c24737" /><Relationship Type="http://schemas.openxmlformats.org/officeDocument/2006/relationships/notesSlide" Target="/ppt/notesSlides/notesSlide17.xml" Id="R6a1dddd51d294c3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e3099d102b48a1" /><Relationship Type="http://schemas.openxmlformats.org/officeDocument/2006/relationships/notesSlide" Target="/ppt/notesSlides/notesSlide18.xml" Id="R4774b6a64d5d44d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788fb3c8084ee2" /><Relationship Type="http://schemas.openxmlformats.org/officeDocument/2006/relationships/notesSlide" Target="/ppt/notesSlides/notesSlide19.xml" Id="R5f517b01de6145f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b2f3a87005499f" /><Relationship Type="http://schemas.openxmlformats.org/officeDocument/2006/relationships/notesSlide" Target="/ppt/notesSlides/notesSlide20.xml" Id="Rd569902b7a4c4fa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7A25DCB-9B7A-4BC8-80B9-E1E110AC8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7A732B-1D11-4069-A89A-AF4697B72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7A93A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E7A93A"/>
                </a:solidFill>
                <a:latin typeface="PingFang TC"/>
                <a:ea typeface="PingFang TC"/>
                <a:cs typeface="PingFang TC"/>
              </a:rPr>
              <a:t>ROUTE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BB7B52-7277-4C34-B519-53B92C33D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66800"/>
            <a:ext cx="8572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7F4ED"/>
                </a:solidFill>
                <a:latin typeface="PingFang TC"/>
                <a:ea typeface="PingFang TC"/>
                <a:cs typeface="PingFang TC"/>
              </a:defRPr>
            </a:pPr>
            <a:r>
              <a:rPr sz="3750" b="1">
                <a:solidFill>
                  <a:srgbClr val="F7F4ED"/>
                </a:solidFill>
                <a:latin typeface="PingFang TC"/>
                <a:ea typeface="PingFang TC"/>
                <a:cs typeface="PingFang TC"/>
              </a:rPr>
              <a:t>客服機器人流程與路由總覽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8828E2-B2C2-4F2B-8671-6B955F3EF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9144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CFD9DE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CFD9DE"/>
                </a:solidFill>
                <a:latin typeface="PingFang TC"/>
                <a:ea typeface="PingFang TC"/>
                <a:cs typeface="PingFang TC"/>
              </a:rPr>
              <a:t>現行路徑、訊息流向、轉真人條件、後續智能化連接點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3987D0-1534-4FD5-94CF-2388FCA2B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2895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9B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DD5C76-C7D6-49CC-AFEC-223DF1C0E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95625"/>
            <a:ext cx="1581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路由架構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46C502-B03F-4B3E-BDB3-C850BC91F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02895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D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992E48-EE9B-49B4-B91A-B4F52B628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095625"/>
            <a:ext cx="1866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金流案件流向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49F7C8-5708-4834-9422-263E826BA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028950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C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0E42C1-AA2E-4514-98AA-DD532C6F4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095625"/>
            <a:ext cx="1771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轉真人條件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51E26A-420A-4F25-B51B-B668AB053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28950"/>
            <a:ext cx="219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A9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D452C1-9CAB-4486-971E-B8B58D464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095625"/>
            <a:ext cx="1962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新邏輯連接點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709E53-90B1-4172-9AEB-7D4140A93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3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8FDD88-8A05-4082-B25B-07240593F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29150"/>
            <a:ext cx="9334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7F4ED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F7F4ED"/>
                </a:solidFill>
                <a:latin typeface="PingFang TC"/>
                <a:ea typeface="PingFang TC"/>
                <a:cs typeface="PingFang TC"/>
              </a:rPr>
              <a:t>重點是可驗證的路徑：客戶訊息判斷後，流向哪個系統、哪個狀態、哪個人工節點。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8FC45D-811A-4D84-96AC-ADB8BBF82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3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D3A5DA-8A57-458A-81B8-C9D73EAEC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8B2B9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A8B2B9"/>
                </a:solidFill>
                <a:latin typeface="PingFang TC"/>
                <a:ea typeface="PingFang TC"/>
                <a:cs typeface="PingFang TC"/>
              </a:rPr>
              <a:t>客服機器人流程與路由總覽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70CB35-FB9A-48FD-A67A-D143DC5D5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8B2B9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A8B2B9"/>
                </a:solidFill>
                <a:latin typeface="PingFang TC"/>
                <a:ea typeface="PingFang TC"/>
                <a:cs typeface="PingFang TC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55977389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A2F3655-062E-4F71-91A1-558BE5109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9EE23E-5F0A-41D8-B9D2-08E6CC1FA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95C4A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D95C4A"/>
                </a:solidFill>
                <a:latin typeface="PingFang TC"/>
                <a:ea typeface="PingFang TC"/>
                <a:cs typeface="PingFang TC"/>
              </a:rPr>
              <a:t>CURRENT CONTEXT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D8B969-BFBB-4023-B6D0-4736B0DDB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8650"/>
            <a:ext cx="10096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2550" b="1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現行版本可視為「路由底座」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F3E000-89D3-4315-B2C1-20E2BC022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C066F9-D253-4A5A-AA11-407A8559B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37C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6737C"/>
                </a:solidFill>
                <a:latin typeface="PingFang TC"/>
                <a:ea typeface="PingFang TC"/>
                <a:cs typeface="PingFang TC"/>
              </a:rPr>
              <a:t>客服機器人流程與路由總覽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B7C70B-9692-4A24-9AD6-E1A33AD73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37C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6737C"/>
                </a:solidFill>
                <a:latin typeface="PingFang TC"/>
                <a:ea typeface="PingFang TC"/>
                <a:cs typeface="PingFang TC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50779B-55AB-4FB3-8E54-1496E5D63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905000"/>
            <a:ext cx="32385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CAB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2FE921-71F8-4B73-8443-5DC33BE03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905000"/>
            <a:ext cx="762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9B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0A9712-CA1B-4F97-8A98-7F7F5A330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076450"/>
            <a:ext cx="2819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已存在的部分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CCFD6D-41B6-439A-AC25-6A87EA982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419350"/>
            <a:ext cx="2819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7454F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37454F"/>
                </a:solidFill>
                <a:latin typeface="PingFang TC"/>
                <a:ea typeface="PingFang TC"/>
                <a:cs typeface="PingFang TC"/>
              </a:rPr>
              <a:t>LiveChat 事件讀取、狀態機、Telegram 案件卡、後台查詢、真人轉接、runtime state 與 audit。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278D5E-AFDF-4AAB-BCE8-9D8497E7C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905000"/>
            <a:ext cx="32385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CAB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6FBD68-6237-425E-B3AD-0351504D8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905000"/>
            <a:ext cx="762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D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EC5578-9EBF-4EFC-A860-C5CE613D5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076450"/>
            <a:ext cx="2819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可替換的部分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179A80-F916-4BED-B444-EFFCBD350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419350"/>
            <a:ext cx="2819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7454F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37454F"/>
                </a:solidFill>
                <a:latin typeface="PingFang TC"/>
                <a:ea typeface="PingFang TC"/>
                <a:cs typeface="PingFang TC"/>
              </a:rPr>
              <a:t>自由文字分類方式、客戶回覆生成方式、手冊與歷史案例檢索、語氣自然度。這些未來可以換成新邏輯。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75A2E0-9489-4CEB-99F3-7E19F14C0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905000"/>
            <a:ext cx="32385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CAB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6E443D-640E-45F0-8CA8-ED36E2636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905000"/>
            <a:ext cx="762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C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6302F8-2016-44CC-B0A9-2626D47DF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2076450"/>
            <a:ext cx="2819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不可放鬆的部分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B77325-B830-4BA5-ADD7-70CB7A536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2419350"/>
            <a:ext cx="2819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7454F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37454F"/>
                </a:solidFill>
                <a:latin typeface="PingFang TC"/>
                <a:ea typeface="PingFang TC"/>
                <a:cs typeface="PingFang TC"/>
              </a:rPr>
              <a:t>金流/帳戶事實、送案目標、轉真人條件、後台查詢結果、平台路由與安全邊界。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46DBD4-F78F-414B-BE2E-C5A1BF878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29125"/>
            <a:ext cx="9715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8"/>
          </a:solidFill>
          <a:ln xmlns:a="http://schemas.openxmlformats.org/drawingml/2006/main" w="9525">
            <a:solidFill>
              <a:srgbClr val="D4CAB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B65268-ACE5-445C-9607-07C63E766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572000"/>
            <a:ext cx="8991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因此後續系統可以更聰明地理解客戶，但最後仍要落到固定目的地：客戶端、Telegram 後台、後台查詢、真人。</a:t>
            </a:r>
          </a:p>
        </p:txBody>
      </p:sp>
    </p:spTree>
    <p:extLst>
      <p:ext uri="{BB962C8B-B14F-4D97-AF65-F5344CB8AC3E}">
        <p14:creationId xmlns:p14="http://schemas.microsoft.com/office/powerpoint/2010/main" val="180069902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0BF226B-B3DA-44BD-9574-0B4F8A065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A816D7-DE19-4613-AB2B-761CEE894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7A93A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E7A93A"/>
                </a:solidFill>
                <a:latin typeface="PingFang TC"/>
                <a:ea typeface="PingFang TC"/>
                <a:cs typeface="PingFang TC"/>
              </a:rPr>
              <a:t>MESSAGE ROUTE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53B061-5591-4425-A7A3-A5B404A4A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8650"/>
            <a:ext cx="10096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7F4ED"/>
                </a:solidFill>
                <a:latin typeface="PingFang TC"/>
                <a:ea typeface="PingFang TC"/>
                <a:cs typeface="PingFang TC"/>
              </a:defRPr>
            </a:pPr>
            <a:r>
              <a:rPr sz="2550" b="1">
                <a:solidFill>
                  <a:srgbClr val="F7F4ED"/>
                </a:solidFill>
                <a:latin typeface="PingFang TC"/>
                <a:ea typeface="PingFang TC"/>
                <a:cs typeface="PingFang TC"/>
              </a:rPr>
              <a:t>客戶訊息的基本流向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018E21-A1EE-4077-9C3E-4CE14D12B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3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E185B2-CC4D-4FD0-944F-5B5A9C7FB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8B2B9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A8B2B9"/>
                </a:solidFill>
                <a:latin typeface="PingFang TC"/>
                <a:ea typeface="PingFang TC"/>
                <a:cs typeface="PingFang TC"/>
              </a:rPr>
              <a:t>客服機器人流程與路由總覽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B270A0-9C0C-4414-B8C3-D73172300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8B2B9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A8B2B9"/>
                </a:solidFill>
                <a:latin typeface="PingFang TC"/>
                <a:ea typeface="PingFang TC"/>
                <a:cs typeface="PingFang TC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2F1693-95B0-48FC-8850-7357CCFD4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62200"/>
            <a:ext cx="1571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9B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F54512-2213-4033-9BCA-883042868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76500"/>
            <a:ext cx="13430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LiveChat</a:t>
            </a:r>
          </a:p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客戶訊息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F19C86-720D-4737-9651-219C36FF9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628900"/>
            <a:ext cx="38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AAB6BE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AAB6BE"/>
                </a:solidFill>
                <a:latin typeface="PingFang TC"/>
                <a:ea typeface="PingFang TC"/>
                <a:cs typeface="PingFang TC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863926-BA06-4892-890A-B3C954836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362200"/>
            <a:ext cx="1619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D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308DEB-B4A1-48C5-BF0C-F942766C2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476500"/>
            <a:ext cx="13906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狀態 + 意圖</a:t>
            </a:r>
          </a:p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判斷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4E0409-AA0F-4AD6-8376-F2F0F6E7E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628900"/>
            <a:ext cx="38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AAB6BE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AAB6BE"/>
                </a:solidFill>
                <a:latin typeface="PingFang TC"/>
                <a:ea typeface="PingFang TC"/>
                <a:cs typeface="PingFang TC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B5ED17-D4DA-46F3-B157-355DC2AD8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362200"/>
            <a:ext cx="1619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A9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5909EB-5760-406F-AD84-6F401C293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476500"/>
            <a:ext cx="13906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路由決策</a:t>
            </a:r>
          </a:p>
          <a:p xmlns:a="http://schemas.openxmlformats.org/drawingml/2006/main">
            <a:pPr algn="ctr">
              <a:defRPr sz="1275" b="1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Route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B14A3B-F40D-4428-B041-C676F6FB9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628900"/>
            <a:ext cx="38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AAB6BE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AAB6BE"/>
                </a:solidFill>
                <a:latin typeface="PingFang TC"/>
                <a:ea typeface="PingFang TC"/>
                <a:cs typeface="PingFang TC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1E54E8-2820-4C1A-956C-2ABF6E72F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62200"/>
            <a:ext cx="1809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C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785BD8-A5B7-4A8B-9D35-3E7B1852F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476500"/>
            <a:ext cx="1581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目的地</a:t>
            </a:r>
          </a:p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Destination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ACC6DA-143D-482E-AFB1-0DB611234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628900"/>
            <a:ext cx="38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AAB6BE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AAB6BE"/>
                </a:solidFill>
                <a:latin typeface="PingFang TC"/>
                <a:ea typeface="PingFang TC"/>
                <a:cs typeface="PingFang TC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281956-5A23-44BD-8B7D-14A1F88E6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362200"/>
            <a:ext cx="1143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9B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EFF60E-A61F-4573-A563-5B8576E0C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2476500"/>
            <a:ext cx="914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狀態更新</a:t>
            </a:r>
          </a:p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State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26E024-15B7-4AEF-A2EF-9C383D757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000500"/>
            <a:ext cx="7810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33D"/>
          </a:solidFill>
          <a:ln xmlns:a="http://schemas.openxmlformats.org/drawingml/2006/main" w="9525">
            <a:solidFill>
              <a:srgbClr val="24333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B55083-B0B3-4A25-A22B-36D64E57D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086225"/>
            <a:ext cx="184023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7F4ED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F7F4ED"/>
                </a:solidFill>
                <a:latin typeface="PingFang TC"/>
                <a:ea typeface="PingFang TC"/>
                <a:cs typeface="PingFang TC"/>
              </a:rPr>
              <a:t>目的地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E02EB63-E12B-4039-A0DB-C9FF6BA9F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6730" y="4086225"/>
            <a:ext cx="558927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7F4ED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F7F4ED"/>
                </a:solidFill>
                <a:latin typeface="PingFang TC"/>
                <a:ea typeface="PingFang TC"/>
                <a:cs typeface="PingFang TC"/>
              </a:rPr>
              <a:t>用途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F452E3F-5D98-4E96-AF85-A64E1A930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362450"/>
            <a:ext cx="781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42D"/>
          </a:solidFill>
          <a:ln xmlns:a="http://schemas.openxmlformats.org/drawingml/2006/main" w="9525">
            <a:solidFill>
              <a:srgbClr val="2D3E49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A997A6E-F596-4E7F-84E2-9FAAB9AB3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438650"/>
            <a:ext cx="184023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CE4E8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DCE4E8"/>
                </a:solidFill>
                <a:latin typeface="PingFang TC"/>
                <a:ea typeface="PingFang TC"/>
                <a:cs typeface="PingFang TC"/>
              </a:rPr>
              <a:t>客戶端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E6628A0-9CED-4824-99AC-6046E8C7B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1480" y="4362450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E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B9120FE-743F-47D1-9D5E-8FA3BDB1C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6730" y="4438650"/>
            <a:ext cx="558927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CE4E8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DCE4E8"/>
                </a:solidFill>
                <a:latin typeface="PingFang TC"/>
                <a:ea typeface="PingFang TC"/>
                <a:cs typeface="PingFang TC"/>
              </a:rPr>
              <a:t>收資料、補充資訊、自助流程、等待狀態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B7B8778-3C6F-410F-8CDE-A3CE9BF97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762500"/>
            <a:ext cx="781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B35"/>
          </a:solidFill>
          <a:ln xmlns:a="http://schemas.openxmlformats.org/drawingml/2006/main" w="9525">
            <a:solidFill>
              <a:srgbClr val="2D3E4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D39F0A8-FC03-4464-8738-F140C6013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838700"/>
            <a:ext cx="184023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CE4E8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DCE4E8"/>
                </a:solidFill>
                <a:latin typeface="PingFang TC"/>
                <a:ea typeface="PingFang TC"/>
                <a:cs typeface="PingFang TC"/>
              </a:rPr>
              <a:t>Telegram 後台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EF922B2-74DE-454A-9F57-29DF86601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1480" y="4762500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E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16860D4-8011-4C2A-B18C-CAD30FAE8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6730" y="4838700"/>
            <a:ext cx="558927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CE4E8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DCE4E8"/>
                </a:solidFill>
                <a:latin typeface="PingFang TC"/>
                <a:ea typeface="PingFang TC"/>
                <a:cs typeface="PingFang TC"/>
              </a:rPr>
              <a:t>存款/提款案件卡與後續補資料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488AA55-CB3C-4275-A6D1-DBD3AC509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162550"/>
            <a:ext cx="781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42D"/>
          </a:solidFill>
          <a:ln xmlns:a="http://schemas.openxmlformats.org/drawingml/2006/main" w="9525">
            <a:solidFill>
              <a:srgbClr val="2D3E49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79DDA4C-F3B3-4AAD-96F7-48A8CB245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238750"/>
            <a:ext cx="184023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CE4E8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DCE4E8"/>
                </a:solidFill>
                <a:latin typeface="PingFang TC"/>
                <a:ea typeface="PingFang TC"/>
                <a:cs typeface="PingFang TC"/>
              </a:rPr>
              <a:t>後台查詢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85CBA49-C8F8-4434-99F6-FF8682C5D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1480" y="5162550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E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E81575F-FD36-4610-8E52-D8FE25D15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6730" y="5238750"/>
            <a:ext cx="558927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CE4E8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DCE4E8"/>
                </a:solidFill>
                <a:latin typeface="PingFang TC"/>
                <a:ea typeface="PingFang TC"/>
                <a:cs typeface="PingFang TC"/>
              </a:rPr>
              <a:t>流水/rollover 等可由工具確認的狀態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188DF67-78F7-47A5-972B-3116748D1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562600"/>
            <a:ext cx="781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B35"/>
          </a:solidFill>
          <a:ln xmlns:a="http://schemas.openxmlformats.org/drawingml/2006/main" w="9525">
            <a:solidFill>
              <a:srgbClr val="2D3E49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742A7AD-672B-41A7-BBF0-CDAC2A4AE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638800"/>
            <a:ext cx="184023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CE4E8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DCE4E8"/>
                </a:solidFill>
                <a:latin typeface="PingFang TC"/>
                <a:ea typeface="PingFang TC"/>
                <a:cs typeface="PingFang TC"/>
              </a:rPr>
              <a:t>真人客服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17A69EE-E912-4ED8-BE0E-35C1C13C9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1480" y="5562600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E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352AFE4-0D62-4806-ACE9-E74C38DA5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6730" y="5638800"/>
            <a:ext cx="558927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CE4E8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DCE4E8"/>
                </a:solidFill>
                <a:latin typeface="PingFang TC"/>
                <a:ea typeface="PingFang TC"/>
                <a:cs typeface="PingFang TC"/>
              </a:rPr>
              <a:t>政策、高風險、無法判斷、重複卡住、客戶要求人工</a:t>
            </a:r>
          </a:p>
        </p:txBody>
      </p:sp>
    </p:spTree>
    <p:extLst>
      <p:ext uri="{BB962C8B-B14F-4D97-AF65-F5344CB8AC3E}">
        <p14:creationId xmlns:p14="http://schemas.microsoft.com/office/powerpoint/2010/main" val="212743336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7D6ADC5-A422-4DBA-9B52-067FFBE20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20FE0D-F66E-4E4E-AC9F-E3D123F2D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95C4A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D95C4A"/>
                </a:solidFill>
                <a:latin typeface="PingFang TC"/>
                <a:ea typeface="PingFang TC"/>
                <a:cs typeface="PingFang TC"/>
              </a:rPr>
              <a:t>ROUTE MATRIX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44810C-7004-4FE7-92C7-7CDDB4BD2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8650"/>
            <a:ext cx="10096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2550" b="1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主要 intent 對應目的地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510409-702F-439F-A7DA-2D0034EC4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8E1B30-1DEB-4775-B894-FB82B7F12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37C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6737C"/>
                </a:solidFill>
                <a:latin typeface="PingFang TC"/>
                <a:ea typeface="PingFang TC"/>
                <a:cs typeface="PingFang TC"/>
              </a:rPr>
              <a:t>客服機器人流程與路由總覽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890626-3AFD-4BC7-8D30-FEB16592F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37C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6737C"/>
                </a:solidFill>
                <a:latin typeface="PingFang TC"/>
                <a:ea typeface="PingFang TC"/>
                <a:cs typeface="PingFang TC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1BAB65-6F33-410D-8332-756A9AAE5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28750"/>
            <a:ext cx="11049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2C"/>
          </a:solidFill>
          <a:ln xmlns:a="http://schemas.openxmlformats.org/drawingml/2006/main" w="9525">
            <a:solidFill>
              <a:srgbClr val="17232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589EE1-D686-41D0-BA8F-B98C877FC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14475"/>
            <a:ext cx="224028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7F4ED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F7F4ED"/>
                </a:solidFill>
                <a:latin typeface="PingFang TC"/>
                <a:ea typeface="PingFang TC"/>
                <a:cs typeface="PingFang TC"/>
              </a:rPr>
              <a:t>Intent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051102-1976-414C-8D91-C7BF1EDD9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7530" y="1514475"/>
            <a:ext cx="279273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7F4ED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F7F4ED"/>
                </a:solidFill>
                <a:latin typeface="PingFang TC"/>
                <a:ea typeface="PingFang TC"/>
                <a:cs typeface="PingFang TC"/>
              </a:rPr>
              <a:t>路由入口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004657-5C34-45E3-A779-FD412EE68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1514475"/>
            <a:ext cx="235077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7F4ED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F7F4ED"/>
                </a:solidFill>
                <a:latin typeface="PingFang TC"/>
                <a:ea typeface="PingFang TC"/>
                <a:cs typeface="PingFang TC"/>
              </a:rPr>
              <a:t>主要目的地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C96921-1E89-4808-BCD0-3440BE78D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2030" y="1514475"/>
            <a:ext cx="290322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7F4ED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F7F4ED"/>
                </a:solidFill>
                <a:latin typeface="PingFang TC"/>
                <a:ea typeface="PingFang TC"/>
                <a:cs typeface="PingFang TC"/>
              </a:rPr>
              <a:t>分岔條件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43EDFB-194C-43D8-ADE9-FC95A897A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90700"/>
            <a:ext cx="11049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CAB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272B51-C85F-4283-AB32-B0AD72222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66900"/>
            <a:ext cx="224028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存款未到帳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7CCA72-BC6B-4BCF-BE34-23807534B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2280" y="1790700"/>
            <a:ext cx="95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964E1A-A97A-401D-A250-CFE864D8A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7530" y="1866900"/>
            <a:ext cx="279273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收身份 + 付款截圖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F6CD19-D29F-4993-B05E-AE99A56D5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5510" y="1790700"/>
            <a:ext cx="95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2B5908-863A-4323-BCEF-EC7D6B90D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1866900"/>
            <a:ext cx="235077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Telegram 財務 topic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A31606-5244-4AA2-B9A3-96B55A8D6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6780" y="1790700"/>
            <a:ext cx="95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1BBC5D-224D-420C-94AF-EF814B6B3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2030" y="1866900"/>
            <a:ext cx="290322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資料不足留在客戶端；高風險轉真人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6ECC36-A1A5-4D42-AB8D-C5BA6E229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00300"/>
            <a:ext cx="11049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9525">
            <a:solidFill>
              <a:srgbClr val="D4CAB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38A504-3E3A-4778-AEC0-2C05F353A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224028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提款未收到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E3D7D50-AC51-41FC-A0BA-52CDAF744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2280" y="2400300"/>
            <a:ext cx="95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1AB8EAD-DA18-43E6-8AD8-00E138B70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7530" y="2476500"/>
            <a:ext cx="279273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收身份 + 提款截圖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27590D2-7E67-431F-AD67-916268BA9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5510" y="2400300"/>
            <a:ext cx="95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C94AA5A-C8F7-4AD6-A410-4799B49F9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2476500"/>
            <a:ext cx="235077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Telegram 財務 topic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99BA8DE-73F5-4959-9C4C-22C9B9A2E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6780" y="2400300"/>
            <a:ext cx="95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CACA6B4-5BE2-45FB-B86F-CDA939921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2030" y="2476500"/>
            <a:ext cx="290322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支付/身份/外部錢包風險轉真人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EEB5398-B1B0-417C-81B8-330E462D7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09900"/>
            <a:ext cx="11049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CAB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9D1EA07-1A04-46CF-A18B-36E2430E3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86100"/>
            <a:ext cx="224028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無法提款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5A470F9-7D5A-4379-8294-3455440F1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2280" y="3009900"/>
            <a:ext cx="95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83E617B-A081-4108-9D89-277E60BEC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7530" y="3086100"/>
            <a:ext cx="279273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收身份後查 rollover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FB0278E-4933-435C-B6B2-04F921E23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5510" y="3009900"/>
            <a:ext cx="95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F773014-635C-4E24-BCB4-04A845929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3086100"/>
            <a:ext cx="235077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後台查詢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49170C5-FB83-45F5-AFAB-9947834A0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6780" y="3009900"/>
            <a:ext cx="95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CC908E3-B8E0-4E3E-8E10-20F3AFC23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2030" y="3086100"/>
            <a:ext cx="290322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查不到或已達標仍不能提款則真人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7043BD6-2FA2-4CD4-8E51-366F54B63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0"/>
            <a:ext cx="11049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9525">
            <a:solidFill>
              <a:srgbClr val="D4CAB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D572049-3F14-4A13-9D73-4494315BC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95700"/>
            <a:ext cx="224028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忘記密碼 / 登入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EF64C70-72FF-4720-B626-413F5D09A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2280" y="3619500"/>
            <a:ext cx="95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48E9726-6244-4A6F-BD42-ED4E716DB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7530" y="3695700"/>
            <a:ext cx="279273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自助教學或錯誤截圖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FD99A65-2489-4BBC-B1D2-568BADDB9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5510" y="3619500"/>
            <a:ext cx="95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C957EF9-1095-4C8F-AD2C-67DF998BA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3695700"/>
            <a:ext cx="235077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客戶端 / 真人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E909C05-71EA-48CA-ABEF-42B4D7D33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6780" y="3619500"/>
            <a:ext cx="95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FDD92D5-C038-487D-BC9B-1147BBA86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2030" y="3695700"/>
            <a:ext cx="290322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教學後仍失敗轉真人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81166FB-2F4F-484C-8620-62DD39893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29100"/>
            <a:ext cx="11049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CAB8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6E6D38B-2FAD-471F-A1F4-F4C89507B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05300"/>
            <a:ext cx="224028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上一筆案件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2300EF7-9182-4CBF-BC7C-AEBCA3A70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2280" y="4229100"/>
            <a:ext cx="95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2FAEBFC-DDF2-4AA1-9E22-9D206CC8E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7530" y="4305300"/>
            <a:ext cx="279273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收身份查既有 case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C658F18-8ADD-4C93-98D2-B1AFF2071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5510" y="4229100"/>
            <a:ext cx="95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5C48125-3178-465A-AF1D-F4B960129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4305300"/>
            <a:ext cx="235077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case store / 客戶端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F804AD0-88F9-454A-8720-5B7537A1D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6780" y="4229100"/>
            <a:ext cx="95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5D492DF-FF0E-4711-888D-E7F3767D4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2030" y="4305300"/>
            <a:ext cx="290322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查不到給路由選擇或真人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D391A0C-7E7C-47BA-8F52-93B282FB6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38700"/>
            <a:ext cx="11049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9525">
            <a:solidFill>
              <a:srgbClr val="D4CAB8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25D5BF1-7B34-46F8-BB1E-0399DBC46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14900"/>
            <a:ext cx="224028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不支援 / 政策 / 投訴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1C99C55-2DB2-47EF-83A7-5A5254AFC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2280" y="4838700"/>
            <a:ext cx="95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66A198A-DFED-49BF-B609-585769E8F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7530" y="4914900"/>
            <a:ext cx="279273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不硬套金流流程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421E1E7-1E05-429D-98EA-C42FB9913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5510" y="4838700"/>
            <a:ext cx="95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E6AE49F-CDBA-4DE2-A0C4-E2FE37140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4914900"/>
            <a:ext cx="235077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真人客服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C68863E-BBAA-4D69-A3CE-E0809054C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6780" y="4838700"/>
            <a:ext cx="95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34FE171-FE3B-4E95-A181-C35DDFF52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2030" y="4914900"/>
            <a:ext cx="290322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避免錯誤承諾</a:t>
            </a:r>
          </a:p>
        </p:txBody>
      </p:sp>
    </p:spTree>
    <p:extLst>
      <p:ext uri="{BB962C8B-B14F-4D97-AF65-F5344CB8AC3E}">
        <p14:creationId xmlns:p14="http://schemas.microsoft.com/office/powerpoint/2010/main" val="13850425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E25EBCC-2DC2-4765-8CE6-A1DDD001B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CB46BF-4B8A-47EE-A3A7-6F5ADCC90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7A93A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E7A93A"/>
                </a:solidFill>
                <a:latin typeface="PingFang TC"/>
                <a:ea typeface="PingFang TC"/>
                <a:cs typeface="PingFang TC"/>
              </a:rPr>
              <a:t>DEPOSIT ROUTE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28CB2E-8F97-45C5-8BFD-525B5676B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8650"/>
            <a:ext cx="10096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7F4ED"/>
                </a:solidFill>
                <a:latin typeface="PingFang TC"/>
                <a:ea typeface="PingFang TC"/>
                <a:cs typeface="PingFang TC"/>
              </a:defRPr>
            </a:pPr>
            <a:r>
              <a:rPr sz="2550" b="1">
                <a:solidFill>
                  <a:srgbClr val="F7F4ED"/>
                </a:solidFill>
                <a:latin typeface="PingFang TC"/>
                <a:ea typeface="PingFang TC"/>
                <a:cs typeface="PingFang TC"/>
              </a:rPr>
              <a:t>存款未到帳路徑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0D25CC-3747-4202-8E21-42F6E1841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3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4DC684-8410-4779-9C9F-FA53F9428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8B2B9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A8B2B9"/>
                </a:solidFill>
                <a:latin typeface="PingFang TC"/>
                <a:ea typeface="PingFang TC"/>
                <a:cs typeface="PingFang TC"/>
              </a:rPr>
              <a:t>客服機器人流程與路由總覽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C3D862-46EB-4177-9720-93AB7A017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8B2B9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A8B2B9"/>
                </a:solidFill>
                <a:latin typeface="PingFang TC"/>
                <a:ea typeface="PingFang TC"/>
                <a:cs typeface="PingFang TC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EC8BDD-1667-4140-BDBE-BD07F43DF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13811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9B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8F747A-4548-48E9-85E8-8F23B3151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24050"/>
            <a:ext cx="11525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存款訊號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D748BC-DB31-4DDD-9DE5-4D4441C7C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019300"/>
            <a:ext cx="38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AAB6BE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AAB6BE"/>
                </a:solidFill>
                <a:latin typeface="PingFang TC"/>
                <a:ea typeface="PingFang TC"/>
                <a:cs typeface="PingFang TC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6DCF8E-417D-4B30-8738-E2975C66B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809750"/>
            <a:ext cx="1238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D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6B734A-E1AF-42C5-990F-8BBC7A55A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924050"/>
            <a:ext cx="10096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收身份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C6222B-1793-4F0A-8B6C-2230D034C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019300"/>
            <a:ext cx="38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AAB6BE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AAB6BE"/>
                </a:solidFill>
                <a:latin typeface="PingFang TC"/>
                <a:ea typeface="PingFang TC"/>
                <a:cs typeface="PingFang TC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532A33-CD8E-436B-86E6-3DB3FA7FA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809750"/>
            <a:ext cx="1428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D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47B88D-DF1C-4C45-B459-828995B18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924050"/>
            <a:ext cx="1200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收付款截圖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61D4CC-E854-475D-97E8-B3FBB3752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019300"/>
            <a:ext cx="38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AAB6BE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AAB6BE"/>
                </a:solidFill>
                <a:latin typeface="PingFang TC"/>
                <a:ea typeface="PingFang TC"/>
                <a:cs typeface="PingFang TC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E599C3-1FDF-40D0-AA98-6AAD50CC7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809750"/>
            <a:ext cx="1333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A9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0306B2-8DCE-4F48-BEE5-8A60F744F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924050"/>
            <a:ext cx="1104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資料完整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65E8C6-6A4F-4748-AE31-EFC2D4680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019300"/>
            <a:ext cx="38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AAB6BE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AAB6BE"/>
                </a:solidFill>
                <a:latin typeface="PingFang TC"/>
                <a:ea typeface="PingFang TC"/>
                <a:cs typeface="PingFang TC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F3A7C6-1110-452A-9789-E3BB28309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809750"/>
            <a:ext cx="1428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C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DE2E89-FD44-4F48-90C1-6025E30FF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924050"/>
            <a:ext cx="1200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TG 財務案件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8A5B1B3-F684-4137-95F3-E067C70A1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019300"/>
            <a:ext cx="38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AAB6BE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AAB6BE"/>
                </a:solidFill>
                <a:latin typeface="PingFang TC"/>
                <a:ea typeface="PingFang TC"/>
                <a:cs typeface="PingFang TC"/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FB9054-A538-4097-813C-68B5E2B46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1809750"/>
            <a:ext cx="1238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9B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1A685A-77CD-4C5D-A6A8-8092F4253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1924050"/>
            <a:ext cx="10096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等待後台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5B4BCB9-EEED-402F-85EE-226BB11BC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38500"/>
            <a:ext cx="10096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33D"/>
          </a:solidFill>
          <a:ln xmlns:a="http://schemas.openxmlformats.org/drawingml/2006/main" w="9525">
            <a:solidFill>
              <a:srgbClr val="24333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2A763EE-4BAA-4AD5-896D-92C63AADF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24225"/>
            <a:ext cx="243459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7F4ED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F7F4ED"/>
                </a:solidFill>
                <a:latin typeface="PingFang TC"/>
                <a:ea typeface="PingFang TC"/>
                <a:cs typeface="PingFang TC"/>
              </a:rPr>
              <a:t>條件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F806BE6-482D-4AD5-92BF-D5C0132C1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8090" y="3324225"/>
            <a:ext cx="324231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7F4ED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F7F4ED"/>
                </a:solidFill>
                <a:latin typeface="PingFang TC"/>
                <a:ea typeface="PingFang TC"/>
                <a:cs typeface="PingFang TC"/>
              </a:rPr>
              <a:t>目的地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B409B5B-3ED9-4B9B-9836-2A04CCB4B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324225"/>
            <a:ext cx="3848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7F4ED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F7F4ED"/>
                </a:solidFill>
                <a:latin typeface="PingFang TC"/>
                <a:ea typeface="PingFang TC"/>
                <a:cs typeface="PingFang TC"/>
              </a:rPr>
              <a:t>路由說明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CADE91B-C733-4395-9F8F-FF6DEECA1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00450"/>
            <a:ext cx="1009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42D"/>
          </a:solidFill>
          <a:ln xmlns:a="http://schemas.openxmlformats.org/drawingml/2006/main" w="9525">
            <a:solidFill>
              <a:srgbClr val="2D3E4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1FE770C-180A-4A0C-98B8-26AF3ECC5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76650"/>
            <a:ext cx="243459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CE4E8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DCE4E8"/>
                </a:solidFill>
                <a:latin typeface="PingFang TC"/>
                <a:ea typeface="PingFang TC"/>
                <a:cs typeface="PingFang TC"/>
              </a:rPr>
              <a:t>資料不足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0D5C416-187D-47D6-A208-CC7E44175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2840" y="3600450"/>
            <a:ext cx="95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E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2FE7192-FE38-4F10-A7A4-19A45309C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8090" y="3676650"/>
            <a:ext cx="324231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CE4E8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DCE4E8"/>
                </a:solidFill>
                <a:latin typeface="PingFang TC"/>
                <a:ea typeface="PingFang TC"/>
                <a:cs typeface="PingFang TC"/>
              </a:rPr>
              <a:t>留在客戶端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16067F4-2992-4319-A3D9-B7E5A642C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600450"/>
            <a:ext cx="95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E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6C491D0-B168-441F-9363-DA0C85F57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676650"/>
            <a:ext cx="3848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CE4E8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DCE4E8"/>
                </a:solidFill>
                <a:latin typeface="PingFang TC"/>
                <a:ea typeface="PingFang TC"/>
                <a:cs typeface="PingFang TC"/>
              </a:rPr>
              <a:t>繼續收缺少的身份或截圖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7C1350E-9E43-45B1-B394-72724C874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57650"/>
            <a:ext cx="1009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B35"/>
          </a:solidFill>
          <a:ln xmlns:a="http://schemas.openxmlformats.org/drawingml/2006/main" w="9525">
            <a:solidFill>
              <a:srgbClr val="2D3E49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43B0ABE-34D9-4D5A-9768-8B480E90A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33850"/>
            <a:ext cx="243459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CE4E8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DCE4E8"/>
                </a:solidFill>
                <a:latin typeface="PingFang TC"/>
                <a:ea typeface="PingFang TC"/>
                <a:cs typeface="PingFang TC"/>
              </a:rPr>
              <a:t>資料完整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F1C71DC-1E25-4AC5-8D68-EF9CCFF60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2840" y="4057650"/>
            <a:ext cx="95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E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88054C7-7AD1-4013-ACAA-E63CB20E4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8090" y="4133850"/>
            <a:ext cx="324231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CE4E8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DCE4E8"/>
                </a:solidFill>
                <a:latin typeface="PingFang TC"/>
                <a:ea typeface="PingFang TC"/>
                <a:cs typeface="PingFang TC"/>
              </a:rPr>
              <a:t>Telegram finance group + platform topic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185865D-1CE4-42DF-914C-7C1BB17C6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057650"/>
            <a:ext cx="95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E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0D445F4-EB58-4F8C-BF1E-2A2E0856A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133850"/>
            <a:ext cx="3848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CE4E8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DCE4E8"/>
                </a:solidFill>
                <a:latin typeface="PingFang TC"/>
                <a:ea typeface="PingFang TC"/>
                <a:cs typeface="PingFang TC"/>
              </a:rPr>
              <a:t>建立 deposit_missing case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7794449-14CE-4009-A493-F79A166A9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14850"/>
            <a:ext cx="1009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42D"/>
          </a:solidFill>
          <a:ln xmlns:a="http://schemas.openxmlformats.org/drawingml/2006/main" w="9525">
            <a:solidFill>
              <a:srgbClr val="2D3E49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A9E80AD-4EEF-4968-B4FE-703B7DF6D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91050"/>
            <a:ext cx="243459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CE4E8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DCE4E8"/>
                </a:solidFill>
                <a:latin typeface="PingFang TC"/>
                <a:ea typeface="PingFang TC"/>
                <a:cs typeface="PingFang TC"/>
              </a:rPr>
              <a:t>後續補資料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9EF9C01-E163-4697-8F50-CC5955644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2840" y="4514850"/>
            <a:ext cx="95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E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83450D7-EFFC-401A-89A3-255980DF3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8090" y="4591050"/>
            <a:ext cx="324231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CE4E8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DCE4E8"/>
                </a:solidFill>
                <a:latin typeface="PingFang TC"/>
                <a:ea typeface="PingFang TC"/>
                <a:cs typeface="PingFang TC"/>
              </a:rPr>
              <a:t>同一 TG case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74D2645-B9CA-4067-95A6-C65FD63C7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514850"/>
            <a:ext cx="95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E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9F5D289-3DC9-4320-8A80-ECC13359E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591050"/>
            <a:ext cx="3848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CE4E8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DCE4E8"/>
                </a:solidFill>
                <a:latin typeface="PingFang TC"/>
                <a:ea typeface="PingFang TC"/>
                <a:cs typeface="PingFang TC"/>
              </a:rPr>
              <a:t>append，不新開案件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605A15D-F63B-4A17-9F56-539F68466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72050"/>
            <a:ext cx="1009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B35"/>
          </a:solidFill>
          <a:ln xmlns:a="http://schemas.openxmlformats.org/drawingml/2006/main" w="9525">
            <a:solidFill>
              <a:srgbClr val="2D3E49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7E346EA-2806-4F79-BD54-DF35FB592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48250"/>
            <a:ext cx="243459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CE4E8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DCE4E8"/>
                </a:solidFill>
                <a:latin typeface="PingFang TC"/>
                <a:ea typeface="PingFang TC"/>
                <a:cs typeface="PingFang TC"/>
              </a:rPr>
              <a:t>客戶要求人工 / 帳戶類問題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391B71D-2860-4E1F-AD74-B61EACF1E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2840" y="4972050"/>
            <a:ext cx="95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E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66435C1-48B8-430E-B38B-21A465325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8090" y="5048250"/>
            <a:ext cx="324231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CE4E8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DCE4E8"/>
                </a:solidFill>
                <a:latin typeface="PingFang TC"/>
                <a:ea typeface="PingFang TC"/>
                <a:cs typeface="PingFang TC"/>
              </a:rPr>
              <a:t>LiveChat handoff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0CAEA8E-214A-4AAB-BED3-CEF0892EA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972050"/>
            <a:ext cx="95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E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0CE493C-7BB5-41C7-81CA-D46BB3F05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5048250"/>
            <a:ext cx="3848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CE4E8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DCE4E8"/>
                </a:solidFill>
                <a:latin typeface="PingFang TC"/>
                <a:ea typeface="PingFang TC"/>
                <a:cs typeface="PingFang TC"/>
              </a:rPr>
              <a:t>離開存款自動流程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5CD3A79-18DC-4F29-8BC8-D26C69F42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29250"/>
            <a:ext cx="1009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42D"/>
          </a:solidFill>
          <a:ln xmlns:a="http://schemas.openxmlformats.org/drawingml/2006/main" w="9525">
            <a:solidFill>
              <a:srgbClr val="2D3E49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91E7E89-F4B3-46DE-A088-13BAA5D35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05450"/>
            <a:ext cx="243459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CE4E8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DCE4E8"/>
                </a:solidFill>
                <a:latin typeface="PingFang TC"/>
                <a:ea typeface="PingFang TC"/>
                <a:cs typeface="PingFang TC"/>
              </a:rPr>
              <a:t>明確已解決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5CEC2C5-C9A8-4ED6-B75C-7F24E3AE9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2840" y="5429250"/>
            <a:ext cx="95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E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512D382-84CC-49AC-9614-08EED3EFE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8090" y="5505450"/>
            <a:ext cx="324231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CE4E8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DCE4E8"/>
                </a:solidFill>
                <a:latin typeface="PingFang TC"/>
                <a:ea typeface="PingFang TC"/>
                <a:cs typeface="PingFang TC"/>
              </a:rPr>
              <a:t>soft parked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B8A5080-85AB-4BDF-82CF-CD227DD66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5429250"/>
            <a:ext cx="95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E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455B76A-03F1-41E8-B1D0-F5F186147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5505450"/>
            <a:ext cx="3848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CE4E8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DCE4E8"/>
                </a:solidFill>
                <a:latin typeface="PingFang TC"/>
                <a:ea typeface="PingFang TC"/>
                <a:cs typeface="PingFang TC"/>
              </a:rPr>
              <a:t>不再推進送案</a:t>
            </a:r>
          </a:p>
        </p:txBody>
      </p:sp>
    </p:spTree>
    <p:extLst>
      <p:ext uri="{BB962C8B-B14F-4D97-AF65-F5344CB8AC3E}">
        <p14:creationId xmlns:p14="http://schemas.microsoft.com/office/powerpoint/2010/main" val="183946859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0A71FBD-B81C-45B7-B9C8-E29D7138F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D8BD81-A99A-4880-92EB-B5A6CE665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95C4A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D95C4A"/>
                </a:solidFill>
                <a:latin typeface="PingFang TC"/>
                <a:ea typeface="PingFang TC"/>
                <a:cs typeface="PingFang TC"/>
              </a:rPr>
              <a:t>WITHDRAWAL ROUTE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66C0C9-98DB-47EC-B39C-1C11513C7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8650"/>
            <a:ext cx="10096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2550" b="1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提款未收到路徑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16620D-ACF7-494A-BA7F-447BEEBDC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82E67D-9AEA-4743-BFFA-3D25947B7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37C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6737C"/>
                </a:solidFill>
                <a:latin typeface="PingFang TC"/>
                <a:ea typeface="PingFang TC"/>
                <a:cs typeface="PingFang TC"/>
              </a:rPr>
              <a:t>客服機器人流程與路由總覽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9B11D6-396C-494D-ACCD-5C482D04A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37C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6737C"/>
                </a:solidFill>
                <a:latin typeface="PingFang TC"/>
                <a:ea typeface="PingFang TC"/>
                <a:cs typeface="PingFang TC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9AB08A-7252-48FF-9106-136ECEEB6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14763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9B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727E0A-F5CA-463D-8E4B-F2880D94B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24050"/>
            <a:ext cx="12477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提款未收到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923BF3-D6F7-4EA0-BEB3-CDB66A8CC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038350"/>
            <a:ext cx="38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66737C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66737C"/>
                </a:solidFill>
                <a:latin typeface="PingFang TC"/>
                <a:ea typeface="PingFang TC"/>
                <a:cs typeface="PingFang TC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1D12DC-98AD-4EED-A693-D5D97197E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809750"/>
            <a:ext cx="1238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D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027001-7502-4FF1-9D1F-41ADAE1C7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924050"/>
            <a:ext cx="10096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收身份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DEEC3F-C422-4548-A300-7F3108F80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038350"/>
            <a:ext cx="38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66737C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66737C"/>
                </a:solidFill>
                <a:latin typeface="PingFang TC"/>
                <a:ea typeface="PingFang TC"/>
                <a:cs typeface="PingFang TC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D193FD-E30E-487D-8223-2F76755AC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809750"/>
            <a:ext cx="1428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D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583BAC-9747-4522-B84D-E86CBF10D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924050"/>
            <a:ext cx="1200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收提款截圖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61789F-8131-44FA-8D04-193C4ED13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38350"/>
            <a:ext cx="38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66737C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66737C"/>
                </a:solidFill>
                <a:latin typeface="PingFang TC"/>
                <a:ea typeface="PingFang TC"/>
                <a:cs typeface="PingFang TC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2719F1-2725-41D9-82D5-B01FA9BC7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809750"/>
            <a:ext cx="1333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A9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B5056B-EE85-46B2-AD7A-EC2CD9F16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924050"/>
            <a:ext cx="1104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資料完整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ACE774-5F55-47D5-8E85-A6CB5A776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038350"/>
            <a:ext cx="38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66737C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66737C"/>
                </a:solidFill>
                <a:latin typeface="PingFang TC"/>
                <a:ea typeface="PingFang TC"/>
                <a:cs typeface="PingFang TC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DD618D-52CB-46E0-842E-7D721750F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809750"/>
            <a:ext cx="1524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C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70D4A1-203C-494B-9E8F-457B8254D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924050"/>
            <a:ext cx="1295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TG 財務案件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244186-C35E-40A0-9110-0CB81EB14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38500"/>
            <a:ext cx="10477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2C"/>
          </a:solidFill>
          <a:ln xmlns:a="http://schemas.openxmlformats.org/drawingml/2006/main" w="9525">
            <a:solidFill>
              <a:srgbClr val="17232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367B7C-8B98-4353-90B3-4A31D0A2A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24225"/>
            <a:ext cx="34766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7F4ED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F7F4ED"/>
                </a:solidFill>
                <a:latin typeface="PingFang TC"/>
                <a:ea typeface="PingFang TC"/>
                <a:cs typeface="PingFang TC"/>
              </a:rPr>
              <a:t>情境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21CAA4-464D-47F8-95D9-047F3A5F2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324225"/>
            <a:ext cx="3162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7F4ED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F7F4ED"/>
                </a:solidFill>
                <a:latin typeface="PingFang TC"/>
                <a:ea typeface="PingFang TC"/>
                <a:cs typeface="PingFang TC"/>
              </a:rPr>
              <a:t>目的地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CC011DC-1B82-4761-BEF4-9513F7C60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3324225"/>
            <a:ext cx="32670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7F4ED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F7F4ED"/>
                </a:solidFill>
                <a:latin typeface="PingFang TC"/>
                <a:ea typeface="PingFang TC"/>
                <a:cs typeface="PingFang TC"/>
              </a:rPr>
              <a:t>路由說明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20C6A9F-55A2-4CEE-9AA5-2E02291BF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00450"/>
            <a:ext cx="10477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CAB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D036344-F9F6-4081-9355-AB642B043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76650"/>
            <a:ext cx="3476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標準提款未到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DEE672D-5D1E-48BD-B050-38BD55CF0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600450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857F641-8CB0-48BF-86A4-65DB0749A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676650"/>
            <a:ext cx="3162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Telegram finance group + platform topic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2E71B9-3B73-4260-B778-B182FFC3A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3600450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1E98F6D-EF74-41CB-A962-42AF4127C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3676650"/>
            <a:ext cx="32670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建立 withdrawal_missing case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E8CEEFF-F064-4D4A-9531-83E06159F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14800"/>
            <a:ext cx="10477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9525">
            <a:solidFill>
              <a:srgbClr val="D4CAB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34FE91C-4E8C-421B-874F-4810CC7D0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91000"/>
            <a:ext cx="3476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只有身份或只有截圖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B7ECDE5-D835-4D00-9BBD-A9D9AF8FB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114800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C22301C-2CBF-4E45-8D30-0040EF22F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191000"/>
            <a:ext cx="3162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客戶端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4128C02-B0DD-49A0-99BF-F15CF8727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4114800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6077FF2-70D6-42C7-9E29-0CFC5F80D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4191000"/>
            <a:ext cx="32670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停留在收資料狀態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138EB75-4DFD-4B46-B456-E2D542D56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29150"/>
            <a:ext cx="10477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CAB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8CEC746-EDBC-4E3F-84BE-1FC389DD2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05350"/>
            <a:ext cx="3476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銀行/Nequi/錢包/身份文件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347591A-A1A6-4F65-8A59-913D8F8DE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629150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2D7D572-1822-4454-87B8-8DFAA9418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705350"/>
            <a:ext cx="3162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真人客服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BD0366B-C335-4E61-A58E-B1039A81E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4629150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F311631-CB6F-4033-B097-8EA399E71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4705350"/>
            <a:ext cx="32670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不視為標準提款未到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817EC50-8281-45AF-95D1-EF2619112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43500"/>
            <a:ext cx="10477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9525">
            <a:solidFill>
              <a:srgbClr val="D4CAB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D7EFF03-BF8E-4021-8820-24F3B9FB9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19700"/>
            <a:ext cx="3476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提款已顯示成功但外部錢包未入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27D5A76-2B6D-4774-8D71-F6489E0A6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5143500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C20DCFB-36EE-4EA8-83F9-FA212C24F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5219700"/>
            <a:ext cx="3162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真人客服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61E95BA-CDFA-4809-B25E-768C3A703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5143500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052EE75-4092-49BD-B1BB-DE317AD2E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5219700"/>
            <a:ext cx="32670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外部支付風險，不由 bot 判斷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D742244-F3B6-4F69-BA8D-D412030A7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57850"/>
            <a:ext cx="10477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CAB8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AF96D87-F8BA-485F-83DA-0859425C0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34050"/>
            <a:ext cx="3476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後續補資料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283B4BC-E326-46FE-B3FC-0D5AE4E4B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5657850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CC1D046-310E-48D3-AA30-C38AC4D3D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5734050"/>
            <a:ext cx="3162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同一 TG case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302B24F-E939-40E3-AB21-93A5083E0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5657850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110914F-A0AA-4F45-9FED-55F58AB78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5734050"/>
            <a:ext cx="32670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append，不重新分類成新案件</a:t>
            </a:r>
          </a:p>
        </p:txBody>
      </p:sp>
    </p:spTree>
    <p:extLst>
      <p:ext uri="{BB962C8B-B14F-4D97-AF65-F5344CB8AC3E}">
        <p14:creationId xmlns:p14="http://schemas.microsoft.com/office/powerpoint/2010/main" val="19707004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E065A0D-E755-4B1E-B971-2D6BB68B3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D2016F-CC2D-4A2B-A7C6-B3A76158A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7A93A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E7A93A"/>
                </a:solidFill>
                <a:latin typeface="PingFang TC"/>
                <a:ea typeface="PingFang TC"/>
                <a:cs typeface="PingFang TC"/>
              </a:rPr>
              <a:t>CANNOT WITHDRAW ROUTE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7756BA-E1D9-45A4-94BB-AD4591D4A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8650"/>
            <a:ext cx="10096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7F4ED"/>
                </a:solidFill>
                <a:latin typeface="PingFang TC"/>
                <a:ea typeface="PingFang TC"/>
                <a:cs typeface="PingFang TC"/>
              </a:defRPr>
            </a:pPr>
            <a:r>
              <a:rPr sz="2550" b="1">
                <a:solidFill>
                  <a:srgbClr val="F7F4ED"/>
                </a:solidFill>
                <a:latin typeface="PingFang TC"/>
                <a:ea typeface="PingFang TC"/>
                <a:cs typeface="PingFang TC"/>
              </a:rPr>
              <a:t>無法提款 / 流水路徑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4FC8F0-D28A-4973-9B9C-5C6FA3D9E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3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732A57-780A-4E71-BD3D-0165F9132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8B2B9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A8B2B9"/>
                </a:solidFill>
                <a:latin typeface="PingFang TC"/>
                <a:ea typeface="PingFang TC"/>
                <a:cs typeface="PingFang TC"/>
              </a:rPr>
              <a:t>客服機器人流程與路由總覽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FA42CD-D14E-4D23-B1A2-B83D41179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8B2B9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A8B2B9"/>
                </a:solidFill>
                <a:latin typeface="PingFang TC"/>
                <a:ea typeface="PingFang TC"/>
                <a:cs typeface="PingFang TC"/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149003-BE55-4046-A0C6-85435B27E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905000"/>
            <a:ext cx="1428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9B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2C9911-091A-4D92-8DA4-AD7B5B815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2019300"/>
            <a:ext cx="1200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不能提款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D5EAA1-8BF4-483C-9A5A-C62F0D2D0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143125"/>
            <a:ext cx="38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AAB6BE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AAB6BE"/>
                </a:solidFill>
                <a:latin typeface="PingFang TC"/>
                <a:ea typeface="PingFang TC"/>
                <a:cs typeface="PingFang TC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3FD036-6F18-4529-B698-99B99E185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905000"/>
            <a:ext cx="1238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D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395098-9F4E-4B54-9815-4F8B557D2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019300"/>
            <a:ext cx="10096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收身份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1B626F-9539-49EF-9074-6BCFA2BC4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143125"/>
            <a:ext cx="38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AAB6BE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AAB6BE"/>
                </a:solidFill>
                <a:latin typeface="PingFang TC"/>
                <a:ea typeface="PingFang TC"/>
                <a:cs typeface="PingFang TC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64D880-FDF0-4C75-92A0-44776D449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1905000"/>
            <a:ext cx="1428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A9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4CEF08-0316-4836-AF7B-E2FE175E7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2019300"/>
            <a:ext cx="1200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查 rollover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85FBBB-6016-48D4-9AD3-682AF6AE0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143125"/>
            <a:ext cx="38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AAB6BE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AAB6BE"/>
                </a:solidFill>
                <a:latin typeface="PingFang TC"/>
                <a:ea typeface="PingFang TC"/>
                <a:cs typeface="PingFang TC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7F2F0F-0666-4132-8E52-E8140BDD8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524000"/>
            <a:ext cx="1524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9B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82EAA0-705A-4403-B0DB-29AB2C79B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1638300"/>
            <a:ext cx="1295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回客戶端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AD9C17-9F38-4C94-9A50-4EC61DF61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524125"/>
            <a:ext cx="1524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C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C3D03B-AE14-40C3-A54A-AE841EABA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2638425"/>
            <a:ext cx="1295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轉真人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76B1A4-D84E-4CE3-9553-6AB13BC0B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143125"/>
            <a:ext cx="38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AAB6BE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AAB6BE"/>
                </a:solidFill>
                <a:latin typeface="PingFang TC"/>
                <a:ea typeface="PingFang TC"/>
                <a:cs typeface="PingFang TC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BE7A773-6AF5-4D5E-8088-ED8991889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1905000"/>
            <a:ext cx="1428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D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46D998-A7DF-4BF7-90D2-1B792793A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019300"/>
            <a:ext cx="1200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狀態更新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629873-6433-4426-9993-F41345F56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714750"/>
            <a:ext cx="9715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33D"/>
          </a:solidFill>
          <a:ln xmlns:a="http://schemas.openxmlformats.org/drawingml/2006/main" w="9525">
            <a:solidFill>
              <a:srgbClr val="24333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F8FCB1-A71B-4C71-B121-439B60F51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800475"/>
            <a:ext cx="330708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7F4ED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F7F4ED"/>
                </a:solidFill>
                <a:latin typeface="PingFang TC"/>
                <a:ea typeface="PingFang TC"/>
                <a:cs typeface="PingFang TC"/>
              </a:rPr>
              <a:t>查詢結果 / 情境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5036532-5AC1-4ABA-B25C-0A466644D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1080" y="3800475"/>
            <a:ext cx="22383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7F4ED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F7F4ED"/>
                </a:solidFill>
                <a:latin typeface="PingFang TC"/>
                <a:ea typeface="PingFang TC"/>
                <a:cs typeface="PingFang TC"/>
              </a:rPr>
              <a:t>目的地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6AD853A-84E0-4A93-84E9-D74ED2B1C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9955" y="3800475"/>
            <a:ext cx="359854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7F4ED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F7F4ED"/>
                </a:solidFill>
                <a:latin typeface="PingFang TC"/>
                <a:ea typeface="PingFang TC"/>
                <a:cs typeface="PingFang TC"/>
              </a:rPr>
              <a:t>路由說明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FC4CADC-2009-48A9-BC59-0B507C58E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076700"/>
            <a:ext cx="9715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42D"/>
          </a:solidFill>
          <a:ln xmlns:a="http://schemas.openxmlformats.org/drawingml/2006/main" w="9525">
            <a:solidFill>
              <a:srgbClr val="2D3E49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42DFB0A-EAF5-4321-A6D9-F89BAB8BC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152900"/>
            <a:ext cx="330708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CE4E8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DCE4E8"/>
                </a:solidFill>
                <a:latin typeface="PingFang TC"/>
                <a:ea typeface="PingFang TC"/>
                <a:cs typeface="PingFang TC"/>
              </a:rPr>
              <a:t>仍有 rollover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E0A096F-576B-45E5-8A91-E31876202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5830" y="4076700"/>
            <a:ext cx="95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E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A264ED7-6099-4C85-86C0-73943B5F8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1080" y="4152900"/>
            <a:ext cx="22383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CE4E8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DCE4E8"/>
                </a:solidFill>
                <a:latin typeface="PingFang TC"/>
                <a:ea typeface="PingFang TC"/>
                <a:cs typeface="PingFang TC"/>
              </a:rPr>
              <a:t>客戶端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7859A80-7DAE-4A8A-98C7-2FDA5A91A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4705" y="4076700"/>
            <a:ext cx="95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E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6A6A0A9-F5FF-4E1E-878D-084FE0110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9955" y="4152900"/>
            <a:ext cx="359854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CE4E8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DCE4E8"/>
                </a:solidFill>
                <a:latin typeface="PingFang TC"/>
                <a:ea typeface="PingFang TC"/>
                <a:cs typeface="PingFang TC"/>
              </a:rPr>
              <a:t>提供剩餘要求，維持可再次詢問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C1ED9A0-AEAE-41A4-AEF9-D517691A4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48200"/>
            <a:ext cx="9715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B35"/>
          </a:solidFill>
          <a:ln xmlns:a="http://schemas.openxmlformats.org/drawingml/2006/main" w="9525">
            <a:solidFill>
              <a:srgbClr val="2D3E49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20D4D10-C4CE-44E4-B5CC-606D01DC8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724400"/>
            <a:ext cx="330708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CE4E8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DCE4E8"/>
                </a:solidFill>
                <a:latin typeface="PingFang TC"/>
                <a:ea typeface="PingFang TC"/>
                <a:cs typeface="PingFang TC"/>
              </a:rPr>
              <a:t>rollover 已達標但仍不能提款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9C53ADE-C02B-4CD4-9183-EFB10C95D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5830" y="4648200"/>
            <a:ext cx="95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E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CE746ED-80FA-4734-B755-8A35798ED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1080" y="4724400"/>
            <a:ext cx="22383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CE4E8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DCE4E8"/>
                </a:solidFill>
                <a:latin typeface="PingFang TC"/>
                <a:ea typeface="PingFang TC"/>
                <a:cs typeface="PingFang TC"/>
              </a:rPr>
              <a:t>真人客服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AD66785-45CB-4B41-8BD0-6185811C5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4705" y="4648200"/>
            <a:ext cx="95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E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905DBE9-F4B0-45FE-A442-81486F3D6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9955" y="4724400"/>
            <a:ext cx="359854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CE4E8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DCE4E8"/>
                </a:solidFill>
                <a:latin typeface="PingFang TC"/>
                <a:ea typeface="PingFang TC"/>
                <a:cs typeface="PingFang TC"/>
              </a:rPr>
              <a:t>需查其他帳戶/風控/支付原因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2C4CAA5-B236-460F-8BFF-10B55542F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19700"/>
            <a:ext cx="9715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42D"/>
          </a:solidFill>
          <a:ln xmlns:a="http://schemas.openxmlformats.org/drawingml/2006/main" w="9525">
            <a:solidFill>
              <a:srgbClr val="2D3E49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3E3E80E-C3B9-44E5-8D98-F6186D2D1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295900"/>
            <a:ext cx="330708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CE4E8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DCE4E8"/>
                </a:solidFill>
                <a:latin typeface="PingFang TC"/>
                <a:ea typeface="PingFang TC"/>
                <a:cs typeface="PingFang TC"/>
              </a:rPr>
              <a:t>查詢失敗 / 找不到資料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5AAF75E-4EAC-41B7-9D04-49B0B75E8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5830" y="5219700"/>
            <a:ext cx="95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E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1A1092F-354F-4A8E-B296-52E09C3B0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1080" y="5295900"/>
            <a:ext cx="22383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CE4E8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DCE4E8"/>
                </a:solidFill>
                <a:latin typeface="PingFang TC"/>
                <a:ea typeface="PingFang TC"/>
                <a:cs typeface="PingFang TC"/>
              </a:rPr>
              <a:t>真人客服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4B0FFE8-FD90-49ED-87BE-DDB1E8FD0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4705" y="5219700"/>
            <a:ext cx="95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E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8AF1EEF-6538-4D41-A478-1D19FAFBC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9955" y="5295900"/>
            <a:ext cx="359854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CE4E8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DCE4E8"/>
                </a:solidFill>
                <a:latin typeface="PingFang TC"/>
                <a:ea typeface="PingFang TC"/>
                <a:cs typeface="PingFang TC"/>
              </a:rPr>
              <a:t>不能假設結果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B1F5E93-1ACF-42BC-AE60-A9EC7C095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791200"/>
            <a:ext cx="9715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B35"/>
          </a:solidFill>
          <a:ln xmlns:a="http://schemas.openxmlformats.org/drawingml/2006/main" w="9525">
            <a:solidFill>
              <a:srgbClr val="2D3E49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F3D9349-C063-4535-89FF-6A54866C5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867400"/>
            <a:ext cx="330708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CE4E8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DCE4E8"/>
                </a:solidFill>
                <a:latin typeface="PingFang TC"/>
                <a:ea typeface="PingFang TC"/>
                <a:cs typeface="PingFang TC"/>
              </a:rPr>
              <a:t>客戶質疑流水未下降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733608E-98B5-41F9-8B71-03DD7B1F6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5830" y="5791200"/>
            <a:ext cx="95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E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4B17774-B88F-4668-94C6-7C69D2B59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1080" y="5867400"/>
            <a:ext cx="22383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CE4E8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DCE4E8"/>
                </a:solidFill>
                <a:latin typeface="PingFang TC"/>
                <a:ea typeface="PingFang TC"/>
                <a:cs typeface="PingFang TC"/>
              </a:rPr>
              <a:t>首次說明；重複真人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94B2B7B-1E74-4775-B3D5-0F1E5B73B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4705" y="5791200"/>
            <a:ext cx="95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E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F9C176D-D64C-4000-BA6F-AF673CEB0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9955" y="5867400"/>
            <a:ext cx="359854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CE4E8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DCE4E8"/>
                </a:solidFill>
                <a:latin typeface="PingFang TC"/>
                <a:ea typeface="PingFang TC"/>
                <a:cs typeface="PingFang TC"/>
              </a:rPr>
              <a:t>避免長時間爭論</a:t>
            </a:r>
          </a:p>
        </p:txBody>
      </p:sp>
    </p:spTree>
    <p:extLst>
      <p:ext uri="{BB962C8B-B14F-4D97-AF65-F5344CB8AC3E}">
        <p14:creationId xmlns:p14="http://schemas.microsoft.com/office/powerpoint/2010/main" val="45880037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47FB356-5826-4671-8FAE-9FD303260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6F4F5B-C973-46B2-9AEC-AB3DAA021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95C4A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D95C4A"/>
                </a:solidFill>
                <a:latin typeface="PingFang TC"/>
                <a:ea typeface="PingFang TC"/>
                <a:cs typeface="PingFang TC"/>
              </a:rPr>
              <a:t>PREVIOUS CASE ROUTE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C62A75-E7A9-4778-B492-F6992257F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8650"/>
            <a:ext cx="10096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2550" b="1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上一筆案件路徑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A24D80-B017-47AA-BC6A-9DA1CC391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FAF79A-F516-4C10-B145-AE0D45637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37C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6737C"/>
                </a:solidFill>
                <a:latin typeface="PingFang TC"/>
                <a:ea typeface="PingFang TC"/>
                <a:cs typeface="PingFang TC"/>
              </a:rPr>
              <a:t>客服機器人流程與路由總覽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BABD2D-0CD1-40DA-ACDA-38A241DCD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37C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6737C"/>
                </a:solidFill>
                <a:latin typeface="PingFang TC"/>
                <a:ea typeface="PingFang TC"/>
                <a:cs typeface="PingFang TC"/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A1EF5A-DB0A-455D-9970-FFC8C20BA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76375"/>
            <a:ext cx="10287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2C"/>
          </a:solidFill>
          <a:ln xmlns:a="http://schemas.openxmlformats.org/drawingml/2006/main" w="9525">
            <a:solidFill>
              <a:srgbClr val="17232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6E2034-E404-4AEC-93A9-C1292DA2B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562100"/>
            <a:ext cx="330708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7F4ED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F7F4ED"/>
                </a:solidFill>
                <a:latin typeface="PingFang TC"/>
                <a:ea typeface="PingFang TC"/>
                <a:cs typeface="PingFang TC"/>
              </a:rPr>
              <a:t>條件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031EFD-64CC-4EBF-8EE0-97D76D552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5330" y="1562100"/>
            <a:ext cx="268986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7F4ED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F7F4ED"/>
                </a:solidFill>
                <a:latin typeface="PingFang TC"/>
                <a:ea typeface="PingFang TC"/>
                <a:cs typeface="PingFang TC"/>
              </a:rPr>
              <a:t>目的地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1648DB-48D5-418F-93D0-E3B4A58AE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5690" y="1562100"/>
            <a:ext cx="371856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7F4ED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F7F4ED"/>
                </a:solidFill>
                <a:latin typeface="PingFang TC"/>
                <a:ea typeface="PingFang TC"/>
                <a:cs typeface="PingFang TC"/>
              </a:rPr>
              <a:t>路由說明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2E2335-306B-40CA-A9A8-B6F46B725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38325"/>
            <a:ext cx="10287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CAB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57920D-CEB0-4D73-9927-E7BBA637B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14525"/>
            <a:ext cx="330708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客戶選上一筆案件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8037CC-E87D-4F94-A5BF-7291D97B7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0080" y="1838325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0E301B-B49F-4853-8872-02D1184BB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5330" y="1914525"/>
            <a:ext cx="268986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收身份資料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2FEE6B-77A6-424F-B8BD-C42AB1A68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0440" y="1838325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A0CBB2-57CE-4B7F-AB79-C110A5692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5690" y="1914525"/>
            <a:ext cx="371856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case store / pending lookup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817F8C-C0E2-4E6D-8F9A-A6387A183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90775"/>
            <a:ext cx="10287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9525">
            <a:solidFill>
              <a:srgbClr val="D4CAB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D05584-9EA6-42E9-B8A4-5F48B0153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66975"/>
            <a:ext cx="330708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找到等待中的 case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D3139F-3D9A-421A-A35D-37C52F8C9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0080" y="2390775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1271F6-DA09-488A-B34A-52DB3E744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5330" y="2466975"/>
            <a:ext cx="268986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回客戶端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138B8C-9D64-493D-9201-085B21158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0440" y="2390775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99813AF-313C-4C91-A6D1-4F0BCB371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5690" y="2466975"/>
            <a:ext cx="371856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維持等待，不新開 TG 案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528ADEE-B56F-48C0-BD50-1911D65C1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43225"/>
            <a:ext cx="10287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CAB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D287061-B2F8-4F5A-A5A0-71A5C8DD4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19425"/>
            <a:ext cx="330708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找到已有後台回覆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2457B0D-1309-4B6C-809B-53B6CC6C7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0080" y="2943225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4A51267-A86C-4EBA-94E4-702453785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5330" y="3019425"/>
            <a:ext cx="268986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回客戶端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CD0EFC2-4BBA-4786-8D03-8A462B2AB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0440" y="2943225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BD0D4C2-DC54-4AE0-8B7C-BBF27375F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5690" y="3019425"/>
            <a:ext cx="371856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顯示最新可對客戶說明的內容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944CD38-9B7F-492B-A7AA-BBD9910AA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95675"/>
            <a:ext cx="10287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9525">
            <a:solidFill>
              <a:srgbClr val="D4CAB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AFFFB14-CFDD-4C6B-B0D5-4AEA92BCB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71875"/>
            <a:ext cx="330708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找到已轉真人 case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05CE255-12B2-473B-8611-6463F6D3E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0080" y="3495675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50F4590-D876-49C5-BCF6-1DFEA87C9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5330" y="3571875"/>
            <a:ext cx="268986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真人狀態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3DB8CD3-0927-4C4C-82C1-8C63442DD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0440" y="3495675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BEA80F4-431D-423C-9D42-B17A6562C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5690" y="3571875"/>
            <a:ext cx="371856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避免自動流程干擾人工處理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7F02B1D-F081-4B0C-A814-11E2EF538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48125"/>
            <a:ext cx="10287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CAB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C9A6BDA-3DE4-4D5A-98C5-7F7DB2269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24325"/>
            <a:ext cx="330708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查不到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21B5594-7AC0-47BD-A12B-EC13192E0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0080" y="4048125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BA99E5B-7B4C-4F71-9EC6-A9391A60E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5330" y="4124325"/>
            <a:ext cx="268986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客戶端選單 / 真人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5998DC1-E5C9-468C-BFB5-677B34AB5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0440" y="4048125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E29A39B-312F-4315-AEB0-81C981CFF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5690" y="4124325"/>
            <a:ext cx="371856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重新選 intent 或轉真人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59BF5F5-79EE-47C6-8810-C168D1712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00575"/>
            <a:ext cx="10287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9525">
            <a:solidFill>
              <a:srgbClr val="D4CAB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12695C8-2A3C-41CF-95C4-CD08EF1E1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76775"/>
            <a:ext cx="330708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客戶其實描述新存提款問題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4072E07-CADE-416D-AD9A-9720A2E2E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0080" y="4600575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81CE033-A769-4AAD-9CB9-61524EC4C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5330" y="4676775"/>
            <a:ext cx="268986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轉入對應 route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E9131B8-2172-40C6-A13A-F0EC40599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0440" y="4600575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F1731ED-F00F-4CFC-942A-A96128CCA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5690" y="4676775"/>
            <a:ext cx="371856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不強制停在上一筆案件流程</a:t>
            </a:r>
          </a:p>
        </p:txBody>
      </p:sp>
    </p:spTree>
    <p:extLst>
      <p:ext uri="{BB962C8B-B14F-4D97-AF65-F5344CB8AC3E}">
        <p14:creationId xmlns:p14="http://schemas.microsoft.com/office/powerpoint/2010/main" val="3592554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C665E25-C230-4CC5-8386-55BC5123D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DF645A-2681-456D-A370-2F9CAEB3E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7A93A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E7A93A"/>
                </a:solidFill>
                <a:latin typeface="PingFang TC"/>
                <a:ea typeface="PingFang TC"/>
                <a:cs typeface="PingFang TC"/>
              </a:rPr>
              <a:t>SELF-SERVICE ROUTE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0504B5-0B00-48DF-8B6D-102451DBA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8650"/>
            <a:ext cx="10096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7F4ED"/>
                </a:solidFill>
                <a:latin typeface="PingFang TC"/>
                <a:ea typeface="PingFang TC"/>
                <a:cs typeface="PingFang TC"/>
              </a:defRPr>
            </a:pPr>
            <a:r>
              <a:rPr sz="2550" b="1">
                <a:solidFill>
                  <a:srgbClr val="F7F4ED"/>
                </a:solidFill>
                <a:latin typeface="PingFang TC"/>
                <a:ea typeface="PingFang TC"/>
                <a:cs typeface="PingFang TC"/>
              </a:rPr>
              <a:t>教學型流程的出口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351BFD-9037-43E3-8F1B-02CF34DE8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3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72E684-0BC2-4D12-8066-46B06B244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8B2B9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A8B2B9"/>
                </a:solidFill>
                <a:latin typeface="PingFang TC"/>
                <a:ea typeface="PingFang TC"/>
                <a:cs typeface="PingFang TC"/>
              </a:rPr>
              <a:t>客服機器人流程與路由總覽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59F223-9AA0-49AD-8D9F-0E2D37A6B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8B2B9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A8B2B9"/>
                </a:solidFill>
                <a:latin typeface="PingFang TC"/>
                <a:ea typeface="PingFang TC"/>
                <a:cs typeface="PingFang TC"/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888494-79D4-4EC8-B9A9-190D72E15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71625"/>
            <a:ext cx="10287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33D"/>
          </a:solidFill>
          <a:ln xmlns:a="http://schemas.openxmlformats.org/drawingml/2006/main" w="9525">
            <a:solidFill>
              <a:srgbClr val="24333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848C72-2603-4014-9D17-87771E0D3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57350"/>
            <a:ext cx="207264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7F4ED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F7F4ED"/>
                </a:solidFill>
                <a:latin typeface="PingFang TC"/>
                <a:ea typeface="PingFang TC"/>
                <a:cs typeface="PingFang TC"/>
              </a:rPr>
              <a:t>入口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2AE058-3DA2-4445-A926-7BEDAB465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0890" y="1657350"/>
            <a:ext cx="248412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7F4ED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F7F4ED"/>
                </a:solidFill>
                <a:latin typeface="PingFang TC"/>
                <a:ea typeface="PingFang TC"/>
                <a:cs typeface="PingFang TC"/>
              </a:rPr>
              <a:t>主要目的地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EB228B-2ADE-4452-BA7D-9210E9BCE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5510" y="1657350"/>
            <a:ext cx="515874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7F4ED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F7F4ED"/>
                </a:solidFill>
                <a:latin typeface="PingFang TC"/>
                <a:ea typeface="PingFang TC"/>
                <a:cs typeface="PingFang TC"/>
              </a:rPr>
              <a:t>後續路由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654016-9E87-43CB-886C-7B59086CE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33575"/>
            <a:ext cx="10287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42D"/>
          </a:solidFill>
          <a:ln xmlns:a="http://schemas.openxmlformats.org/drawingml/2006/main" w="9525">
            <a:solidFill>
              <a:srgbClr val="2D3E4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4939BE-4E89-4DE7-834A-AB977B2DC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09775"/>
            <a:ext cx="207264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CE4E8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DCE4E8"/>
                </a:solidFill>
                <a:latin typeface="PingFang TC"/>
                <a:ea typeface="PingFang TC"/>
                <a:cs typeface="PingFang TC"/>
              </a:rPr>
              <a:t>如何充值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BE80BD-0331-44D8-8EF8-3FAD86881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5640" y="1933575"/>
            <a:ext cx="95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E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316E38-FA1C-44BD-962C-70BD719B5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0890" y="2009775"/>
            <a:ext cx="248412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CE4E8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DCE4E8"/>
                </a:solidFill>
                <a:latin typeface="PingFang TC"/>
                <a:ea typeface="PingFang TC"/>
                <a:cs typeface="PingFang TC"/>
              </a:rPr>
              <a:t>客戶端自助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53FAA2-1971-43F6-BB6D-06A5E8BBE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0260" y="1933575"/>
            <a:ext cx="95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E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368B6C-38A3-44EE-9958-C0B848652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5510" y="2009775"/>
            <a:ext cx="515874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CE4E8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DCE4E8"/>
                </a:solidFill>
                <a:latin typeface="PingFang TC"/>
                <a:ea typeface="PingFang TC"/>
                <a:cs typeface="PingFang TC"/>
              </a:rPr>
              <a:t>後續若出現付款截圖或未到帳描述，轉 deposit route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6CDEA2-9E50-48F3-BC69-0D608110D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43175"/>
            <a:ext cx="10287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B35"/>
          </a:solidFill>
          <a:ln xmlns:a="http://schemas.openxmlformats.org/drawingml/2006/main" w="9525">
            <a:solidFill>
              <a:srgbClr val="2D3E4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A3AAAD-DC8B-4246-9037-DFF0E8B51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19375"/>
            <a:ext cx="207264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CE4E8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DCE4E8"/>
                </a:solidFill>
                <a:latin typeface="PingFang TC"/>
                <a:ea typeface="PingFang TC"/>
                <a:cs typeface="PingFang TC"/>
              </a:rPr>
              <a:t>如何提款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ADCE62-BB91-4B34-B4E6-0CCC89AC6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5640" y="2543175"/>
            <a:ext cx="95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E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7AA328-CC42-4FE1-A12E-81A54F7D8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0890" y="2619375"/>
            <a:ext cx="248412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CE4E8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DCE4E8"/>
                </a:solidFill>
                <a:latin typeface="PingFang TC"/>
                <a:ea typeface="PingFang TC"/>
                <a:cs typeface="PingFang TC"/>
              </a:rPr>
              <a:t>客戶端自助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067BF3-B00F-40B3-899A-DD750F788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0260" y="2543175"/>
            <a:ext cx="95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E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1B4413-1551-4CDD-8D1F-4EF0AE2E8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5510" y="2619375"/>
            <a:ext cx="515874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CE4E8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DCE4E8"/>
                </a:solidFill>
                <a:latin typeface="PingFang TC"/>
                <a:ea typeface="PingFang TC"/>
                <a:cs typeface="PingFang TC"/>
              </a:rPr>
              <a:t>後續若出現提款截圖或未收到描述，轉 withdrawal route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4B69EBB-0FCD-4747-9CBE-CF3B9D256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52775"/>
            <a:ext cx="10287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42D"/>
          </a:solidFill>
          <a:ln xmlns:a="http://schemas.openxmlformats.org/drawingml/2006/main" w="9525">
            <a:solidFill>
              <a:srgbClr val="2D3E4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958AE2-0DE2-48CF-A89C-50E3ED4E8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28975"/>
            <a:ext cx="207264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CE4E8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DCE4E8"/>
                </a:solidFill>
                <a:latin typeface="PingFang TC"/>
                <a:ea typeface="PingFang TC"/>
                <a:cs typeface="PingFang TC"/>
              </a:rPr>
              <a:t>忘記密碼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74F97EA-A600-4419-A44A-1EE833CB2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5640" y="3152775"/>
            <a:ext cx="95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E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33C10C8-24F8-42FA-9730-A698FF82E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0890" y="3228975"/>
            <a:ext cx="248412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CE4E8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DCE4E8"/>
                </a:solidFill>
                <a:latin typeface="PingFang TC"/>
                <a:ea typeface="PingFang TC"/>
                <a:cs typeface="PingFang TC"/>
              </a:rPr>
              <a:t>客戶端自助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632CD41-2EE0-4080-B904-4CBF3FFEF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0260" y="3152775"/>
            <a:ext cx="95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E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5D389BF-34C1-4200-833D-54554CA73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5510" y="3228975"/>
            <a:ext cx="515874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CE4E8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DCE4E8"/>
                </a:solidFill>
                <a:latin typeface="PingFang TC"/>
                <a:ea typeface="PingFang TC"/>
                <a:cs typeface="PingFang TC"/>
              </a:rPr>
              <a:t>後續仍失敗、錯誤截圖、帳戶問題則真人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255A9E9-6DC2-4578-B794-F3BBEF362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62375"/>
            <a:ext cx="10287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B35"/>
          </a:solidFill>
          <a:ln xmlns:a="http://schemas.openxmlformats.org/drawingml/2006/main" w="9525">
            <a:solidFill>
              <a:srgbClr val="2D3E49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62512F3-6474-4837-B032-C878BBA9B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38575"/>
            <a:ext cx="207264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CE4E8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DCE4E8"/>
                </a:solidFill>
                <a:latin typeface="PingFang TC"/>
                <a:ea typeface="PingFang TC"/>
                <a:cs typeface="PingFang TC"/>
              </a:rPr>
              <a:t>單純確認 / 問候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1EC707B-9321-49B6-8C9B-532FDD6C9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5640" y="3762375"/>
            <a:ext cx="95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E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6C078D5-67D1-4978-9A79-4FC61AACB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0890" y="3838575"/>
            <a:ext cx="248412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CE4E8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DCE4E8"/>
                </a:solidFill>
                <a:latin typeface="PingFang TC"/>
                <a:ea typeface="PingFang TC"/>
                <a:cs typeface="PingFang TC"/>
              </a:rPr>
              <a:t>客戶端 / recovery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BB784CF-4386-4E5B-AB56-4D083BE6B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0260" y="3762375"/>
            <a:ext cx="95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E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2CBE67F-CDA6-4124-AF41-CDB28D19F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5510" y="3838575"/>
            <a:ext cx="515874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CE4E8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DCE4E8"/>
                </a:solidFill>
                <a:latin typeface="PingFang TC"/>
                <a:ea typeface="PingFang TC"/>
                <a:cs typeface="PingFang TC"/>
              </a:rPr>
              <a:t>不要送 TG，不要新開案件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5C85846-1991-4731-8180-3BF203519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71975"/>
            <a:ext cx="10287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42D"/>
          </a:solidFill>
          <a:ln xmlns:a="http://schemas.openxmlformats.org/drawingml/2006/main" w="9525">
            <a:solidFill>
              <a:srgbClr val="2D3E49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9D6B124-1D49-49C4-9ED2-20D3DD60F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48175"/>
            <a:ext cx="207264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CE4E8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DCE4E8"/>
                </a:solidFill>
                <a:latin typeface="PingFang TC"/>
                <a:ea typeface="PingFang TC"/>
                <a:cs typeface="PingFang TC"/>
              </a:rPr>
              <a:t>新問題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1302A40-576D-4FB6-A17A-C978227AF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5640" y="4371975"/>
            <a:ext cx="95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E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2E25E95-CABD-41FE-B9C9-B43F67506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0890" y="4448175"/>
            <a:ext cx="248412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CE4E8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DCE4E8"/>
                </a:solidFill>
                <a:latin typeface="PingFang TC"/>
                <a:ea typeface="PingFang TC"/>
                <a:cs typeface="PingFang TC"/>
              </a:rPr>
              <a:t>重新分類 route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7DCC0D5-D75C-4012-9C3F-2CDC51F3E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0260" y="4371975"/>
            <a:ext cx="95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E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29DD2DE-0ECC-4305-8912-4A5EEB593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5510" y="4448175"/>
            <a:ext cx="515874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CE4E8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DCE4E8"/>
                </a:solidFill>
                <a:latin typeface="PingFang TC"/>
                <a:ea typeface="PingFang TC"/>
                <a:cs typeface="PingFang TC"/>
              </a:rPr>
              <a:t>由新邏輯判斷應進哪條路徑</a:t>
            </a:r>
          </a:p>
        </p:txBody>
      </p:sp>
    </p:spTree>
    <p:extLst>
      <p:ext uri="{BB962C8B-B14F-4D97-AF65-F5344CB8AC3E}">
        <p14:creationId xmlns:p14="http://schemas.microsoft.com/office/powerpoint/2010/main" val="120481554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AF6F7D7-ACE2-4AB2-86F7-05B0EB74C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3B1758-CB02-425E-8DEF-9A8FC4BD4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95C4A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D95C4A"/>
                </a:solidFill>
                <a:latin typeface="PingFang TC"/>
                <a:ea typeface="PingFang TC"/>
                <a:cs typeface="PingFang TC"/>
              </a:rPr>
              <a:t>WAITING ROUTE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8BB0B9-9A5A-4A32-9007-6D1A0B43E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8650"/>
            <a:ext cx="10096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2550" b="1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已送後台後的訊息流向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DA2925-DD86-44D6-B1CA-99CA5B851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C9C4D3-7FDF-401A-9302-0FBA0BE5C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37C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6737C"/>
                </a:solidFill>
                <a:latin typeface="PingFang TC"/>
                <a:ea typeface="PingFang TC"/>
                <a:cs typeface="PingFang TC"/>
              </a:rPr>
              <a:t>客服機器人流程與路由總覽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CB70EE-1857-4A63-BA27-F2FD8B59A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37C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6737C"/>
                </a:solidFill>
                <a:latin typeface="PingFang TC"/>
                <a:ea typeface="PingFang TC"/>
                <a:cs typeface="PingFang TC"/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830CEE-9843-4623-8FFC-683E9C195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28750"/>
            <a:ext cx="10477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2C"/>
          </a:solidFill>
          <a:ln xmlns:a="http://schemas.openxmlformats.org/drawingml/2006/main" w="9525">
            <a:solidFill>
              <a:srgbClr val="17232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F813B2-9DEF-41FF-AEC2-457A28ABC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14475"/>
            <a:ext cx="3581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7F4ED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F7F4ED"/>
                </a:solidFill>
                <a:latin typeface="PingFang TC"/>
                <a:ea typeface="PingFang TC"/>
                <a:cs typeface="PingFang TC"/>
              </a:rPr>
              <a:t>客戶後續訊息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2D9909-96B7-4C13-A412-524ACC642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1514475"/>
            <a:ext cx="2952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7F4ED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F7F4ED"/>
                </a:solidFill>
                <a:latin typeface="PingFang TC"/>
                <a:ea typeface="PingFang TC"/>
                <a:cs typeface="PingFang TC"/>
              </a:rPr>
              <a:t>目的地 / 狀態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D4338A-9A7F-47C3-8EF1-A9AE93D64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514475"/>
            <a:ext cx="3371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7F4ED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F7F4ED"/>
                </a:solidFill>
                <a:latin typeface="PingFang TC"/>
                <a:ea typeface="PingFang TC"/>
                <a:cs typeface="PingFang TC"/>
              </a:rPr>
              <a:t>路由說明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D4A1C1-E2A2-400A-B8B3-82992C555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90700"/>
            <a:ext cx="10477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CAB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3C1BAB-36F3-4327-AEA0-B6500A6D4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66900"/>
            <a:ext cx="3581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補截圖 / reference / 金額 / 身份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9EF9E4-2DBF-4173-B3F0-D20697F1D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790700"/>
            <a:ext cx="95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B11734-AC77-4D18-B271-C2B247CAF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1866900"/>
            <a:ext cx="2952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同一 Telegram case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593C40-B054-4310-ABA9-A09CF4CC3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790700"/>
            <a:ext cx="95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F11278-938C-4F34-8FEB-5E236E5CD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866900"/>
            <a:ext cx="33718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append_to_tg_case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1ABE9F-7701-4A17-B87B-2D90E2492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62200"/>
            <a:ext cx="10477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9525">
            <a:solidFill>
              <a:srgbClr val="D4CAB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B65F95-373E-473C-B893-233871E25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38400"/>
            <a:ext cx="3581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催進度 / 問多久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13FBAE-02F4-47D6-8D7C-330CAF845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362200"/>
            <a:ext cx="95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B7C6F6-B280-43BF-8C88-C7738CA75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438400"/>
            <a:ext cx="2952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客戶端等待狀態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EA15B6-EB48-4AA1-9E21-7B414AFAE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362200"/>
            <a:ext cx="95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E3BD88-D0DD-4B2B-9BF0-097345D4A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438400"/>
            <a:ext cx="33718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保持 waiting_backend；重複卡住可真人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B7E0970-729A-496F-8E11-8A5F198C4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33700"/>
            <a:ext cx="10477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CAB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C3E480F-DE28-4BB9-A723-9E692FA70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09900"/>
            <a:ext cx="3581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只說 OK / thanks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D765CFE-934F-4D90-9CA5-C6E750047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933700"/>
            <a:ext cx="95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82075D4-B9C8-4370-972F-2943A250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009900"/>
            <a:ext cx="2952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保持等待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DD101D7-37B0-4297-9FBC-C5446E40A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933700"/>
            <a:ext cx="95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56763CB-0A34-4BDF-A4A9-814D144D1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009900"/>
            <a:ext cx="33718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不當作 resolved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15CF246-E1FF-411E-867D-29B557940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05200"/>
            <a:ext cx="10477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9525">
            <a:solidFill>
              <a:srgbClr val="D4CAB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9D11486-0502-4AE9-B0B3-E423686E6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81400"/>
            <a:ext cx="3581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明確說已解決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C6D4841-14F8-4F6F-AE23-DE36A0CEA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505200"/>
            <a:ext cx="95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D10E2C9-4EA3-43DB-8F0A-C13889B26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581400"/>
            <a:ext cx="2952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soft parked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9401FA7-3492-443E-9B00-D3B96F1FD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505200"/>
            <a:ext cx="95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BEDA46A-D8A8-4A44-8DB4-9A508F59D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581400"/>
            <a:ext cx="33718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停止推進案件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099ADCA-DD5C-4744-884A-45A38E9DB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76700"/>
            <a:ext cx="10477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CAB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B79CE4E-BDBB-473A-B5D9-5D9797EE8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52900"/>
            <a:ext cx="3581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提出新具體問題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E2A75A6-A121-4413-9752-A1BFA1CEF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076700"/>
            <a:ext cx="95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226E4E2-162A-44D4-AC84-49F3EA310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152900"/>
            <a:ext cx="2952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真人客服或重新分類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1C44F21-9C22-49E8-9A8F-DC28FBF27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076700"/>
            <a:ext cx="95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29E484D-9E66-42A2-B4BE-9465861D9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152900"/>
            <a:ext cx="33718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避免在舊案件中混入新問題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91961A0-1BFC-435E-8ACA-052DD0CD9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48200"/>
            <a:ext cx="10477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9525">
            <a:solidFill>
              <a:srgbClr val="D4CAB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22C9B58-C8AE-4415-A547-DF221EBCA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24400"/>
            <a:ext cx="3581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要求人工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D15E6D1-3F79-457F-93EB-705432F64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648200"/>
            <a:ext cx="95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5685349-7820-4545-B79D-09A4B343F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724400"/>
            <a:ext cx="2952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真人客服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F68A725-E480-4D93-BF34-F94DDEFA0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648200"/>
            <a:ext cx="95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821E3B6-0893-4AA7-9D28-2CE081254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724400"/>
            <a:ext cx="33718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結束自動等待流程</a:t>
            </a:r>
          </a:p>
        </p:txBody>
      </p:sp>
    </p:spTree>
    <p:extLst>
      <p:ext uri="{BB962C8B-B14F-4D97-AF65-F5344CB8AC3E}">
        <p14:creationId xmlns:p14="http://schemas.microsoft.com/office/powerpoint/2010/main" val="658667717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0E48C92-BF42-4DD1-A4C9-DD5485C40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E92F45-4FF1-4616-85CE-2F610660C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7A93A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E7A93A"/>
                </a:solidFill>
                <a:latin typeface="PingFang TC"/>
                <a:ea typeface="PingFang TC"/>
                <a:cs typeface="PingFang TC"/>
              </a:rPr>
              <a:t>TELEGRAM REPLY ROUTE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06B5F8-F32D-4BD9-9937-23F045D04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8650"/>
            <a:ext cx="10096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7F4ED"/>
                </a:solidFill>
                <a:latin typeface="PingFang TC"/>
                <a:ea typeface="PingFang TC"/>
                <a:cs typeface="PingFang TC"/>
              </a:defRPr>
            </a:pPr>
            <a:r>
              <a:rPr sz="2550" b="1">
                <a:solidFill>
                  <a:srgbClr val="F7F4ED"/>
                </a:solidFill>
                <a:latin typeface="PingFang TC"/>
                <a:ea typeface="PingFang TC"/>
                <a:cs typeface="PingFang TC"/>
              </a:rPr>
              <a:t>Telegram 後台回覆的出口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FEF388-6937-4DFA-83F7-C1FEBF9A3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3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CAF7ED-7BE0-4994-8172-E6936D848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8B2B9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A8B2B9"/>
                </a:solidFill>
                <a:latin typeface="PingFang TC"/>
                <a:ea typeface="PingFang TC"/>
                <a:cs typeface="PingFang TC"/>
              </a:rPr>
              <a:t>客服機器人流程與路由總覽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7226A1-607F-4799-809D-24D89C31F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8B2B9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A8B2B9"/>
                </a:solidFill>
                <a:latin typeface="PingFang TC"/>
                <a:ea typeface="PingFang TC"/>
                <a:cs typeface="PingFang TC"/>
              </a:rPr>
              <a:t>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DFBC04-1BA9-4D55-B8B6-041A75087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95500"/>
            <a:ext cx="1428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C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8C425A-6DC1-4E40-AFC2-EC59919E9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209800"/>
            <a:ext cx="1200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TG 主卡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A5FF69-E0B5-464B-83BF-8F728FCA3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324100"/>
            <a:ext cx="38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AAB6BE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AAB6BE"/>
                </a:solidFill>
                <a:latin typeface="PingFang TC"/>
                <a:ea typeface="PingFang TC"/>
                <a:cs typeface="PingFang TC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20641F-EF31-4047-943F-B2F673DA2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095500"/>
            <a:ext cx="1428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A9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5F6590-37CF-413F-B03B-D353E675F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209800"/>
            <a:ext cx="1200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reply 主卡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F6E731-DE39-4CDF-BC4B-232D35DD0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324100"/>
            <a:ext cx="38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AAB6BE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AAB6BE"/>
                </a:solidFill>
                <a:latin typeface="PingFang TC"/>
                <a:ea typeface="PingFang TC"/>
                <a:cs typeface="PingFang TC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81CDC7-1627-4A4E-9638-CD139CC39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095500"/>
            <a:ext cx="1428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D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41AFF6-345B-407E-B11A-E408859F9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209800"/>
            <a:ext cx="1200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處理/檢查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0C0D69-1BB1-4B7A-9A64-9CAE61065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324100"/>
            <a:ext cx="38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AAB6BE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AAB6BE"/>
                </a:solidFill>
                <a:latin typeface="PingFang TC"/>
                <a:ea typeface="PingFang TC"/>
                <a:cs typeface="PingFang TC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01EDEE-B658-4801-BDAC-ED3399958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095500"/>
            <a:ext cx="1809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9B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20E1A9-F5E8-4252-B419-69621DBA0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209800"/>
            <a:ext cx="1581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LiveChat 客戶端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7E2868-ED5B-4225-91C5-C723D9D4F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324100"/>
            <a:ext cx="38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AAB6BE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AAB6BE"/>
                </a:solidFill>
                <a:latin typeface="PingFang TC"/>
                <a:ea typeface="PingFang TC"/>
                <a:cs typeface="PingFang TC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25D384-6009-426E-833F-926DB63CE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095500"/>
            <a:ext cx="1428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D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F438E4-09EB-4423-B4D9-C38C6E741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209800"/>
            <a:ext cx="1200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等待下一步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67A66B-1A56-467F-BC3E-7E3F00503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714750"/>
            <a:ext cx="9429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33D"/>
          </a:solidFill>
          <a:ln xmlns:a="http://schemas.openxmlformats.org/drawingml/2006/main" w="9525">
            <a:solidFill>
              <a:srgbClr val="24333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A32E57-0590-4C00-B113-54064C53E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800475"/>
            <a:ext cx="26384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7F4ED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F7F4ED"/>
                </a:solidFill>
                <a:latin typeface="PingFang TC"/>
                <a:ea typeface="PingFang TC"/>
                <a:cs typeface="PingFang TC"/>
              </a:rPr>
              <a:t>TG 事件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2120EB1-71A0-4431-94D8-0865212F1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800475"/>
            <a:ext cx="244983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7F4ED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F7F4ED"/>
                </a:solidFill>
                <a:latin typeface="PingFang TC"/>
                <a:ea typeface="PingFang TC"/>
                <a:cs typeface="PingFang TC"/>
              </a:rPr>
              <a:t>出口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17A0271-7735-4DA6-872F-0012981FE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5630" y="3800475"/>
            <a:ext cx="376999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7F4ED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F7F4ED"/>
                </a:solidFill>
                <a:latin typeface="PingFang TC"/>
                <a:ea typeface="PingFang TC"/>
                <a:cs typeface="PingFang TC"/>
              </a:rPr>
              <a:t>路由說明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F22523A-A4B1-4336-8DDF-846EE88C4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076700"/>
            <a:ext cx="942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42D"/>
          </a:solidFill>
          <a:ln xmlns:a="http://schemas.openxmlformats.org/drawingml/2006/main" w="9525">
            <a:solidFill>
              <a:srgbClr val="2D3E4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A05CD7D-8B2A-4072-813A-55DAA426E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152900"/>
            <a:ext cx="26384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CE4E8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DCE4E8"/>
                </a:solidFill>
                <a:latin typeface="PingFang TC"/>
                <a:ea typeface="PingFang TC"/>
                <a:cs typeface="PingFang TC"/>
              </a:rPr>
              <a:t>不是 reply 主卡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321228D-15D7-4567-BDBD-13D1F4CE0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076700"/>
            <a:ext cx="95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E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48BCD56-19F9-494F-935B-49FFE41A6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152900"/>
            <a:ext cx="244983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CE4E8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DCE4E8"/>
                </a:solidFill>
                <a:latin typeface="PingFang TC"/>
                <a:ea typeface="PingFang TC"/>
                <a:cs typeface="PingFang TC"/>
              </a:rPr>
              <a:t>忽略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F780E32-250E-481E-8D53-C0C566B08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0380" y="4076700"/>
            <a:ext cx="95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E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66CFE09-E0AD-4F72-8FF4-B3E4FF4A8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5630" y="4152900"/>
            <a:ext cx="376999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CE4E8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DCE4E8"/>
                </a:solidFill>
                <a:latin typeface="PingFang TC"/>
                <a:ea typeface="PingFang TC"/>
                <a:cs typeface="PingFang TC"/>
              </a:rPr>
              <a:t>避免 Telegram topic 噪音轉到客戶端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96BFE03-52DD-472B-9B92-1F1BF5AC4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514850"/>
            <a:ext cx="942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B35"/>
          </a:solidFill>
          <a:ln xmlns:a="http://schemas.openxmlformats.org/drawingml/2006/main" w="9525">
            <a:solidFill>
              <a:srgbClr val="2D3E49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7A21FE2-8FC8-48C3-A9B2-2B2CEA2D2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591050"/>
            <a:ext cx="26384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CE4E8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DCE4E8"/>
                </a:solidFill>
                <a:latin typeface="PingFang TC"/>
                <a:ea typeface="PingFang TC"/>
                <a:cs typeface="PingFang TC"/>
              </a:rPr>
              <a:t>reply 主卡文字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D58E381-4233-46A1-8FBF-C042F4384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514850"/>
            <a:ext cx="95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E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38996EA-EBD2-4E27-A14B-61F6EF8D1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591050"/>
            <a:ext cx="244983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CE4E8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DCE4E8"/>
                </a:solidFill>
                <a:latin typeface="PingFang TC"/>
                <a:ea typeface="PingFang TC"/>
                <a:cs typeface="PingFang TC"/>
              </a:rPr>
              <a:t>處理後送 LiveChat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1F10228-377A-4E2E-9C54-9954D08D0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0380" y="4514850"/>
            <a:ext cx="95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E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3C95519-E724-4D6F-BFB8-B12EA9D2A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5630" y="4591050"/>
            <a:ext cx="376999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CE4E8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DCE4E8"/>
                </a:solidFill>
                <a:latin typeface="PingFang TC"/>
                <a:ea typeface="PingFang TC"/>
                <a:cs typeface="PingFang TC"/>
              </a:rPr>
              <a:t>可由新邏輯重寫語氣，但不能改事實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E151749-6FD0-4CF6-8EE5-DB00E14F2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953000"/>
            <a:ext cx="942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42D"/>
          </a:solidFill>
          <a:ln xmlns:a="http://schemas.openxmlformats.org/drawingml/2006/main" w="9525">
            <a:solidFill>
              <a:srgbClr val="2D3E49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5CB3C6D-02D6-4ABB-A390-97F3D53F8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029200"/>
            <a:ext cx="26384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CE4E8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DCE4E8"/>
                </a:solidFill>
                <a:latin typeface="PingFang TC"/>
                <a:ea typeface="PingFang TC"/>
                <a:cs typeface="PingFang TC"/>
              </a:rPr>
              <a:t>reply 主卡附件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0FCB017-686A-463D-AE45-DDE04D957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953000"/>
            <a:ext cx="95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E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9A616D9-A972-4FAE-8BB0-293A214C3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029200"/>
            <a:ext cx="244983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CE4E8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DCE4E8"/>
                </a:solidFill>
                <a:latin typeface="PingFang TC"/>
                <a:ea typeface="PingFang TC"/>
                <a:cs typeface="PingFang TC"/>
              </a:rPr>
              <a:t>送 LiveChat 或 fallback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74C9CA5-039A-4942-9F09-72CBBB7A8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0380" y="4953000"/>
            <a:ext cx="95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E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C0EE0A1-225A-49F3-908A-2386EC4F9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5630" y="5029200"/>
            <a:ext cx="376999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CE4E8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DCE4E8"/>
                </a:solidFill>
                <a:latin typeface="PingFang TC"/>
                <a:ea typeface="PingFang TC"/>
                <a:cs typeface="PingFang TC"/>
              </a:rPr>
              <a:t>附件傳遞需保留來源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1469A3D-586B-488B-BAB0-9B52F155D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391150"/>
            <a:ext cx="942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B35"/>
          </a:solidFill>
          <a:ln xmlns:a="http://schemas.openxmlformats.org/drawingml/2006/main" w="9525">
            <a:solidFill>
              <a:srgbClr val="2D3E49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EF5A9C4-939E-455B-9B4D-FBE0120D1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467350"/>
            <a:ext cx="26384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CE4E8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DCE4E8"/>
                </a:solidFill>
                <a:latin typeface="PingFang TC"/>
                <a:ea typeface="PingFang TC"/>
                <a:cs typeface="PingFang TC"/>
              </a:rPr>
              <a:t>送客戶失敗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B4C044B-E669-4158-ABBE-D5A1EA335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5391150"/>
            <a:ext cx="95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E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833E249-FCCC-4D7F-8E7C-BC3330C1E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467350"/>
            <a:ext cx="244983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CE4E8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DCE4E8"/>
                </a:solidFill>
                <a:latin typeface="PingFang TC"/>
                <a:ea typeface="PingFang TC"/>
                <a:cs typeface="PingFang TC"/>
              </a:rPr>
              <a:t>health / audit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40AD3AE-10FF-4925-98A9-6DC90DBDF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0380" y="5391150"/>
            <a:ext cx="95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E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F1F9720-3AB3-49BB-9EE8-6C4E50A89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5630" y="5467350"/>
            <a:ext cx="376999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CE4E8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DCE4E8"/>
                </a:solidFill>
                <a:latin typeface="PingFang TC"/>
                <a:ea typeface="PingFang TC"/>
                <a:cs typeface="PingFang TC"/>
              </a:rPr>
              <a:t>標記需排查</a:t>
            </a:r>
          </a:p>
        </p:txBody>
      </p:sp>
    </p:spTree>
    <p:extLst>
      <p:ext uri="{BB962C8B-B14F-4D97-AF65-F5344CB8AC3E}">
        <p14:creationId xmlns:p14="http://schemas.microsoft.com/office/powerpoint/2010/main" val="1568736633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009C91D-856F-46E3-BAF4-C117A3580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6BD3B2-86BA-47DB-9300-B633786A0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95C4A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D95C4A"/>
                </a:solidFill>
                <a:latin typeface="PingFang TC"/>
                <a:ea typeface="PingFang TC"/>
                <a:cs typeface="PingFang TC"/>
              </a:rPr>
              <a:t>HUMAN ROUTE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781F91-DD90-4F95-9858-B663715E9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8650"/>
            <a:ext cx="10096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2550" b="1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轉真人條件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F2D78C-7962-4E2D-B4DE-1948E7EB8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0FD6CC-BCC1-4170-939C-B5014CA5E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37C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6737C"/>
                </a:solidFill>
                <a:latin typeface="PingFang TC"/>
                <a:ea typeface="PingFang TC"/>
                <a:cs typeface="PingFang TC"/>
              </a:rPr>
              <a:t>客服機器人流程與路由總覽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5B7AC7-EA2F-4E49-BF52-E046BC86D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37C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6737C"/>
                </a:solidFill>
                <a:latin typeface="PingFang TC"/>
                <a:ea typeface="PingFang TC"/>
                <a:cs typeface="PingFang TC"/>
              </a:rPr>
              <a:t>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F21793-D592-4E89-BE22-A171CAAD9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10668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2C"/>
          </a:solidFill>
          <a:ln xmlns:a="http://schemas.openxmlformats.org/drawingml/2006/main" w="9525">
            <a:solidFill>
              <a:srgbClr val="17232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B07F30-D443-4CA6-81CE-712D548C6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14475"/>
            <a:ext cx="429006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7F4ED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F7F4ED"/>
                </a:solidFill>
                <a:latin typeface="PingFang TC"/>
                <a:ea typeface="PingFang TC"/>
                <a:cs typeface="PingFang TC"/>
              </a:rPr>
              <a:t>觸發條件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69ED6D-1410-4ED2-A2A4-7FE339121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7810" y="1514475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7F4ED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F7F4ED"/>
                </a:solidFill>
                <a:latin typeface="PingFang TC"/>
                <a:ea typeface="PingFang TC"/>
                <a:cs typeface="PingFang TC"/>
              </a:rPr>
              <a:t>目的地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F82CDD-5E7E-46C4-991B-E0F4908DD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4810" y="1514475"/>
            <a:ext cx="332994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7F4ED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F7F4ED"/>
                </a:solidFill>
                <a:latin typeface="PingFang TC"/>
                <a:ea typeface="PingFang TC"/>
                <a:cs typeface="PingFang TC"/>
              </a:rPr>
              <a:t>路由說明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63E5C4-6138-48A2-88B2-B285144DC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10668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CAB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1BF31A-3B2B-4B30-8DA6-ED631A099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66900"/>
            <a:ext cx="429006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客戶明確要求人工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7DC91A-162A-49D1-B8DD-4942979C4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2560" y="1790700"/>
            <a:ext cx="95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38836D-A921-4ED7-BA99-E7A45532F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7810" y="1866900"/>
            <a:ext cx="2476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LiveChat handoff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243EF3-71A1-4AD8-8868-BFF019E62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1790700"/>
            <a:ext cx="95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E07BBA-F7F4-4BEC-B36B-104778E1F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4810" y="1866900"/>
            <a:ext cx="332994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不再追問資料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DF4B07-A781-4849-ABEE-93D19CBB1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62200"/>
            <a:ext cx="10668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9525">
            <a:solidFill>
              <a:srgbClr val="D4CAB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15042F-C73D-4553-B4BE-0B50536B4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38400"/>
            <a:ext cx="429006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退款 / promo / bonus / affiliate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0E4D7E-DB07-440B-92A8-AAF3B9515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2560" y="2362200"/>
            <a:ext cx="95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3765DB-1800-4007-AA11-02CA4384F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7810" y="2438400"/>
            <a:ext cx="2476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LiveChat handoff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804F66-9CF6-402B-9764-B2918ABDB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2362200"/>
            <a:ext cx="95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A92E4A-82FF-4C1F-9C4C-225646AD1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4810" y="2438400"/>
            <a:ext cx="332994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政策與營運類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55AF7BF-0F9A-4615-9DE4-DF0A19570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33700"/>
            <a:ext cx="10668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CAB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F82F7A0-E55A-45D3-9750-AEDF0FF6E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9900"/>
            <a:ext cx="429006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銀行 / 錢包 / KYC / 身份文件 / 收款資料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73B1FC9-6346-4AB8-9CBE-50276F6C1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2560" y="2933700"/>
            <a:ext cx="95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8CA5F4D-705C-4A3C-8315-4C48EA0EE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7810" y="3009900"/>
            <a:ext cx="2476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LiveChat handoff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1E12F9A-754D-440B-9EA2-83C9A65BD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2933700"/>
            <a:ext cx="95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DCA0C94-A6F0-48B0-9BEA-06D82E4A7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4810" y="3009900"/>
            <a:ext cx="332994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高風險資料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1B65379-D7DA-41C4-BAA3-0E39FB2B0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05200"/>
            <a:ext cx="10668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9525">
            <a:solidFill>
              <a:srgbClr val="D4CAB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5CFB227-1D11-4D0D-AA2E-2B9BE1D75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81400"/>
            <a:ext cx="429006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登入教學後仍無法處理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CA4BFE0-94A0-4239-8F3A-4B096812F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2560" y="3505200"/>
            <a:ext cx="95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0CAF963-A54C-4F7F-A4BD-FCFB1933F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7810" y="3581400"/>
            <a:ext cx="2476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LiveChat handoff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D36364E-A77F-4CDE-A8E5-84FDE978C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3505200"/>
            <a:ext cx="95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3FBCB42-2CB8-402C-8391-B9821DEC6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4810" y="3581400"/>
            <a:ext cx="332994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需要人工查帳戶或錯誤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EF82482-82DC-40BD-8552-3965D5801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76700"/>
            <a:ext cx="10668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CAB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21A277F-BEE7-4BC9-BB35-9D180EDC4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52900"/>
            <a:ext cx="429006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重複看不到選單 / 重複未知 / 重複催促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16C14D0-FBAB-426E-B018-B849C6B3D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2560" y="4076700"/>
            <a:ext cx="95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9BBD8BF-AD6F-4A21-A82C-2B3B81A3F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7810" y="4152900"/>
            <a:ext cx="2476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LiveChat handoff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A3E5B1A-207F-4C0F-A959-4ED79B555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4076700"/>
            <a:ext cx="95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63EEF6E-EDC4-4836-BC28-AD9BBDE0F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4810" y="4152900"/>
            <a:ext cx="332994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避免循環卡住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A0A8477-8C94-49CC-866A-FFBB11AA3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48200"/>
            <a:ext cx="10668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9525">
            <a:solidFill>
              <a:srgbClr val="D4CAB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87859C5-2675-4C51-B8B5-0F54F4192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24400"/>
            <a:ext cx="429006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已有人工作業中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174B4CF-6EE2-41D9-84E7-86EC64230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2560" y="4648200"/>
            <a:ext cx="95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6F1B5BB-1D0B-479D-B94E-6BA452168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7810" y="4724400"/>
            <a:ext cx="2476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bot silence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9F992A1-E84F-4984-BF11-AEA9510CC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4648200"/>
            <a:ext cx="95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51D22D3-0B1E-4DD8-A4D8-BC4B89CE3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4810" y="4724400"/>
            <a:ext cx="332994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避免自動流程搶對話</a:t>
            </a:r>
          </a:p>
        </p:txBody>
      </p:sp>
    </p:spTree>
    <p:extLst>
      <p:ext uri="{BB962C8B-B14F-4D97-AF65-F5344CB8AC3E}">
        <p14:creationId xmlns:p14="http://schemas.microsoft.com/office/powerpoint/2010/main" val="45960176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37F1A7E-A56B-49FA-AE9D-CD19EBB2B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BF4C74-297D-43CE-9ECE-15FD1EEAA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7A93A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E7A93A"/>
                </a:solidFill>
                <a:latin typeface="PingFang TC"/>
                <a:ea typeface="PingFang TC"/>
                <a:cs typeface="PingFang TC"/>
              </a:rPr>
              <a:t>PLATFORM ROUTE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EACB33-C4D6-40FF-842C-042232083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8650"/>
            <a:ext cx="10096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7F4ED"/>
                </a:solidFill>
                <a:latin typeface="PingFang TC"/>
                <a:ea typeface="PingFang TC"/>
                <a:cs typeface="PingFang TC"/>
              </a:defRPr>
            </a:pPr>
            <a:r>
              <a:rPr sz="2550" b="1">
                <a:solidFill>
                  <a:srgbClr val="F7F4ED"/>
                </a:solidFill>
                <a:latin typeface="PingFang TC"/>
                <a:ea typeface="PingFang TC"/>
                <a:cs typeface="PingFang TC"/>
              </a:rPr>
              <a:t>平台到 Telegram topic 的對應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FAC4FC-8063-405A-903D-2D1220A8D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3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A94C75-B35F-454B-B31C-EC0191B3A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8B2B9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A8B2B9"/>
                </a:solidFill>
                <a:latin typeface="PingFang TC"/>
                <a:ea typeface="PingFang TC"/>
                <a:cs typeface="PingFang TC"/>
              </a:rPr>
              <a:t>客服機器人流程與路由總覽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E47BE9-674D-42C4-9C61-7D74D530D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8B2B9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A8B2B9"/>
                </a:solidFill>
                <a:latin typeface="PingFang TC"/>
                <a:ea typeface="PingFang TC"/>
                <a:cs typeface="PingFang TC"/>
              </a:rPr>
              <a:t>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145780-D749-4F99-89D9-EC5D7A5AB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428750"/>
            <a:ext cx="933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33D"/>
          </a:solidFill>
          <a:ln xmlns:a="http://schemas.openxmlformats.org/drawingml/2006/main" w="9525">
            <a:solidFill>
              <a:srgbClr val="24333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BBC520-9CB0-46A7-9560-AD17CA849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514475"/>
            <a:ext cx="186309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7F4ED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F7F4ED"/>
                </a:solidFill>
                <a:latin typeface="PingFang TC"/>
                <a:ea typeface="PingFang TC"/>
                <a:cs typeface="PingFang TC"/>
              </a:rPr>
              <a:t>平台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933796-1DF1-445D-BEAE-3D86AB315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7590" y="1514475"/>
            <a:ext cx="223647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7F4ED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F7F4ED"/>
                </a:solidFill>
                <a:latin typeface="PingFang TC"/>
                <a:ea typeface="PingFang TC"/>
                <a:cs typeface="PingFang TC"/>
              </a:rPr>
              <a:t>LiveChat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753B03-A243-41D3-A594-39715DB10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4560" y="1514475"/>
            <a:ext cx="2609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7F4ED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F7F4ED"/>
                </a:solidFill>
                <a:latin typeface="PingFang TC"/>
                <a:ea typeface="PingFang TC"/>
                <a:cs typeface="PingFang TC"/>
              </a:rPr>
              <a:t>Telegram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3F13E2-A2FA-4428-9F11-CB17A8DA5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4910" y="1514475"/>
            <a:ext cx="186309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7F4ED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F7F4ED"/>
                </a:solidFill>
                <a:latin typeface="PingFang TC"/>
                <a:ea typeface="PingFang TC"/>
                <a:cs typeface="PingFang TC"/>
              </a:rPr>
              <a:t>merchant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0749E1-4AF1-4742-B170-4077390FC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790700"/>
            <a:ext cx="9334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42D"/>
          </a:solidFill>
          <a:ln xmlns:a="http://schemas.openxmlformats.org/drawingml/2006/main" w="9525">
            <a:solidFill>
              <a:srgbClr val="2D3E4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8BA094-6193-4E71-AD94-5BB4F967B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866900"/>
            <a:ext cx="186309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CE4E8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DCE4E8"/>
                </a:solidFill>
                <a:latin typeface="PingFang TC"/>
                <a:ea typeface="PingFang TC"/>
                <a:cs typeface="PingFang TC"/>
              </a:rPr>
              <a:t>JUE999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6F108F-F554-417A-B03B-B3AB43233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2340" y="1790700"/>
            <a:ext cx="95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E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D312F1-4090-4330-A21D-01B4710FC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7590" y="1866900"/>
            <a:ext cx="223647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CE4E8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DCE4E8"/>
                </a:solidFill>
                <a:latin typeface="PingFang TC"/>
                <a:ea typeface="PingFang TC"/>
                <a:cs typeface="PingFang TC"/>
              </a:rPr>
              <a:t>LC group 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32EB88-5C41-4F96-AAC1-A59891913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9310" y="1790700"/>
            <a:ext cx="95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E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AB63E4-D73B-4505-B210-5DEC9D950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4560" y="1866900"/>
            <a:ext cx="2609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CE4E8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DCE4E8"/>
                </a:solidFill>
                <a:latin typeface="PingFang TC"/>
                <a:ea typeface="PingFang TC"/>
                <a:cs typeface="PingFang TC"/>
              </a:rPr>
              <a:t>TG topic 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592852-3038-48EE-9381-1A605396A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9660" y="1790700"/>
            <a:ext cx="95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E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B38A6A-5D42-4DBB-9BEF-9709D30D5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4910" y="1866900"/>
            <a:ext cx="186309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CE4E8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DCE4E8"/>
                </a:solidFill>
                <a:latin typeface="PingFang TC"/>
                <a:ea typeface="PingFang TC"/>
                <a:cs typeface="PingFang TC"/>
              </a:rPr>
              <a:t>juecopf1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800527-4664-448F-A4F4-386DD267D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209800"/>
            <a:ext cx="9334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B35"/>
          </a:solidFill>
          <a:ln xmlns:a="http://schemas.openxmlformats.org/drawingml/2006/main" w="9525">
            <a:solidFill>
              <a:srgbClr val="2D3E4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64E9C2-2DDE-401E-B5C1-0C49CDB4B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286000"/>
            <a:ext cx="186309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CE4E8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DCE4E8"/>
                </a:solidFill>
                <a:latin typeface="PingFang TC"/>
                <a:ea typeface="PingFang TC"/>
                <a:cs typeface="PingFang TC"/>
              </a:rPr>
              <a:t>GNA777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CAE1296-405D-4D00-9A2D-ABD52DD4F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2340" y="2209800"/>
            <a:ext cx="95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E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7B7B80A-6F98-47CF-AF27-8AF43323F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7590" y="2286000"/>
            <a:ext cx="223647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CE4E8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DCE4E8"/>
                </a:solidFill>
                <a:latin typeface="PingFang TC"/>
                <a:ea typeface="PingFang TC"/>
                <a:cs typeface="PingFang TC"/>
              </a:rPr>
              <a:t>LC group 12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FC51E7-B1AF-4B2F-AAA9-91D9719BC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9310" y="2209800"/>
            <a:ext cx="95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E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A0D9F59-CBBD-4AF0-92F1-088AA31FA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4560" y="2286000"/>
            <a:ext cx="2609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CE4E8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DCE4E8"/>
                </a:solidFill>
                <a:latin typeface="PingFang TC"/>
                <a:ea typeface="PingFang TC"/>
                <a:cs typeface="PingFang TC"/>
              </a:rPr>
              <a:t>TG topic 15372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00E3E2A-84F8-4470-8FEE-6F341ED71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9660" y="2209800"/>
            <a:ext cx="95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E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D59D12E-4B6E-45D2-95FE-B4D060928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4910" y="2286000"/>
            <a:ext cx="186309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CE4E8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DCE4E8"/>
                </a:solidFill>
                <a:latin typeface="PingFang TC"/>
                <a:ea typeface="PingFang TC"/>
                <a:cs typeface="PingFang TC"/>
              </a:rPr>
              <a:t>gnacops1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E21E398-BC3A-412F-8943-F4D5A68E0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28900"/>
            <a:ext cx="9334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42D"/>
          </a:solidFill>
          <a:ln xmlns:a="http://schemas.openxmlformats.org/drawingml/2006/main" w="9525">
            <a:solidFill>
              <a:srgbClr val="2D3E4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8B21FCD-483D-49F8-BC6D-07D3DBF9A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05100"/>
            <a:ext cx="186309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CE4E8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DCE4E8"/>
                </a:solidFill>
                <a:latin typeface="PingFang TC"/>
                <a:ea typeface="PingFang TC"/>
                <a:cs typeface="PingFang TC"/>
              </a:rPr>
              <a:t>JG7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5694BC2-478C-425B-8B4E-505269ECD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2340" y="2628900"/>
            <a:ext cx="95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E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090A314-E512-4352-9AFB-7A476D89A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7590" y="2705100"/>
            <a:ext cx="223647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CE4E8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DCE4E8"/>
                </a:solidFill>
                <a:latin typeface="PingFang TC"/>
                <a:ea typeface="PingFang TC"/>
                <a:cs typeface="PingFang TC"/>
              </a:rPr>
              <a:t>LC group 11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69919D3-AA19-4F18-AA7A-7974D782E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9310" y="2628900"/>
            <a:ext cx="95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E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A91A8BF-68F3-42DC-9B73-30958A3FE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4560" y="2705100"/>
            <a:ext cx="2609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CE4E8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DCE4E8"/>
                </a:solidFill>
                <a:latin typeface="PingFang TC"/>
                <a:ea typeface="PingFang TC"/>
                <a:cs typeface="PingFang TC"/>
              </a:rPr>
              <a:t>TG topic 15371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40689E3-AEA3-44F6-9C2C-09AD7BF09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9660" y="2628900"/>
            <a:ext cx="95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E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8303BA0-633F-4BBA-81AB-6BF4FF3EB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4910" y="2705100"/>
            <a:ext cx="186309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CE4E8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DCE4E8"/>
                </a:solidFill>
                <a:latin typeface="PingFang TC"/>
                <a:ea typeface="PingFang TC"/>
                <a:cs typeface="PingFang TC"/>
              </a:rPr>
              <a:t>jgcops1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799EA82-C107-4B81-A051-E560BADC0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48000"/>
            <a:ext cx="9334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B35"/>
          </a:solidFill>
          <a:ln xmlns:a="http://schemas.openxmlformats.org/drawingml/2006/main" w="9525">
            <a:solidFill>
              <a:srgbClr val="2D3E49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520BAB1-9FC9-4C0B-9922-1B59683C1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124200"/>
            <a:ext cx="186309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CE4E8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DCE4E8"/>
                </a:solidFill>
                <a:latin typeface="PingFang TC"/>
                <a:ea typeface="PingFang TC"/>
                <a:cs typeface="PingFang TC"/>
              </a:rPr>
              <a:t>PAG99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5BBD48B-7DF6-4DF3-B1B7-5A9C6AA7A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2340" y="3048000"/>
            <a:ext cx="95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E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309B463-36EF-4720-8A48-0975652BB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7590" y="3124200"/>
            <a:ext cx="223647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CE4E8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DCE4E8"/>
                </a:solidFill>
                <a:latin typeface="PingFang TC"/>
                <a:ea typeface="PingFang TC"/>
                <a:cs typeface="PingFang TC"/>
              </a:rPr>
              <a:t>LC group 13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C41E6B2-0E77-4B0E-B111-985D1A031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9310" y="3048000"/>
            <a:ext cx="95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E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58BFC88-7887-43CF-AE63-7B8E2523F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4560" y="3124200"/>
            <a:ext cx="2609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CE4E8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DCE4E8"/>
                </a:solidFill>
                <a:latin typeface="PingFang TC"/>
                <a:ea typeface="PingFang TC"/>
                <a:cs typeface="PingFang TC"/>
              </a:rPr>
              <a:t>TG topic 18565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E971E01-9A16-4995-ACA1-F3DC182CB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9660" y="3048000"/>
            <a:ext cx="95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E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7F0F71F-6DED-4333-BCB6-0AA6AB07E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4910" y="3124200"/>
            <a:ext cx="186309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CE4E8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DCE4E8"/>
                </a:solidFill>
                <a:latin typeface="PingFang TC"/>
                <a:ea typeface="PingFang TC"/>
                <a:cs typeface="PingFang TC"/>
              </a:rPr>
              <a:t>pagcops1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4B26C20-66FD-4BE6-A173-74ACF00AC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67100"/>
            <a:ext cx="9334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42D"/>
          </a:solidFill>
          <a:ln xmlns:a="http://schemas.openxmlformats.org/drawingml/2006/main" w="9525">
            <a:solidFill>
              <a:srgbClr val="2D3E49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B70DADA-1809-4ECF-9514-68AB74F6E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543300"/>
            <a:ext cx="186309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CE4E8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DCE4E8"/>
                </a:solidFill>
                <a:latin typeface="PingFang TC"/>
                <a:ea typeface="PingFang TC"/>
                <a:cs typeface="PingFang TC"/>
              </a:rPr>
              <a:t>CUM777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4BAD518-45A5-4CB5-AD86-C94CCD767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2340" y="3467100"/>
            <a:ext cx="95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E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2AE536D-784E-4C73-AF2C-D9DD48F01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7590" y="3543300"/>
            <a:ext cx="223647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CE4E8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DCE4E8"/>
                </a:solidFill>
                <a:latin typeface="PingFang TC"/>
                <a:ea typeface="PingFang TC"/>
                <a:cs typeface="PingFang TC"/>
              </a:rPr>
              <a:t>LC group 24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EADA1F1-5F03-450B-BAA7-FCE71EFE4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9310" y="3467100"/>
            <a:ext cx="95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E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9F4B9CE-D48C-40D8-8ACF-5B53317CA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4560" y="3543300"/>
            <a:ext cx="2609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CE4E8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DCE4E8"/>
                </a:solidFill>
                <a:latin typeface="PingFang TC"/>
                <a:ea typeface="PingFang TC"/>
                <a:cs typeface="PingFang TC"/>
              </a:rPr>
              <a:t>TG topic 26447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51108D1-E212-4A20-8845-EB8385D37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9660" y="3467100"/>
            <a:ext cx="95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E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EFC9C71-79DD-4853-BE40-155948D57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4910" y="3543300"/>
            <a:ext cx="186309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CE4E8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DCE4E8"/>
                </a:solidFill>
                <a:latin typeface="PingFang TC"/>
                <a:ea typeface="PingFang TC"/>
                <a:cs typeface="PingFang TC"/>
              </a:rPr>
              <a:t>cumcops1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8170C1A-D9ED-476F-AD59-E9A3B48A4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886200"/>
            <a:ext cx="9334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B35"/>
          </a:solidFill>
          <a:ln xmlns:a="http://schemas.openxmlformats.org/drawingml/2006/main" w="9525">
            <a:solidFill>
              <a:srgbClr val="2D3E49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B5F23D9-D20B-4FE8-B383-E8D09DE97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962400"/>
            <a:ext cx="186309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CE4E8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DCE4E8"/>
                </a:solidFill>
                <a:latin typeface="PingFang TC"/>
                <a:ea typeface="PingFang TC"/>
                <a:cs typeface="PingFang TC"/>
              </a:rPr>
              <a:t>CON777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BD96A6A-5F2D-4154-A24F-82BAFA770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2340" y="3886200"/>
            <a:ext cx="95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E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23142FA-621F-4026-B0E1-08CC11257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7590" y="3962400"/>
            <a:ext cx="223647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CE4E8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DCE4E8"/>
                </a:solidFill>
                <a:latin typeface="PingFang TC"/>
                <a:ea typeface="PingFang TC"/>
                <a:cs typeface="PingFang TC"/>
              </a:rPr>
              <a:t>LC group 25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A67BC3D-3054-4536-816F-A29932AC4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9310" y="3886200"/>
            <a:ext cx="95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E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1448D56-9490-47FE-A625-22768D9F4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4560" y="3962400"/>
            <a:ext cx="2609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CE4E8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DCE4E8"/>
                </a:solidFill>
                <a:latin typeface="PingFang TC"/>
                <a:ea typeface="PingFang TC"/>
                <a:cs typeface="PingFang TC"/>
              </a:rPr>
              <a:t>TG topic 29915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03230A8-DB52-4FE1-95A2-8EBBD78B3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9660" y="3886200"/>
            <a:ext cx="95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E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FE9EA9A-CD25-494F-98B6-ACD65A2CF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4910" y="3962400"/>
            <a:ext cx="186309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CE4E8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DCE4E8"/>
                </a:solidFill>
                <a:latin typeface="PingFang TC"/>
                <a:ea typeface="PingFang TC"/>
                <a:cs typeface="PingFang TC"/>
              </a:rPr>
              <a:t>concops1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C0ABFBA-8E81-4FF4-A875-4459CE0D8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05300"/>
            <a:ext cx="9334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42D"/>
          </a:solidFill>
          <a:ln xmlns:a="http://schemas.openxmlformats.org/drawingml/2006/main" w="9525">
            <a:solidFill>
              <a:srgbClr val="2D3E49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542C6E3-5F71-496C-A446-9015BE3EB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381500"/>
            <a:ext cx="186309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CE4E8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DCE4E8"/>
                </a:solidFill>
                <a:latin typeface="PingFang TC"/>
                <a:ea typeface="PingFang TC"/>
                <a:cs typeface="PingFang TC"/>
              </a:rPr>
              <a:t>ZAP69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6E22CCB-B13C-4020-AD4D-6095E6647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2340" y="4305300"/>
            <a:ext cx="95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E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F92FEC3-CB9A-404F-83D6-BEBB9DCD1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7590" y="4381500"/>
            <a:ext cx="223647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CE4E8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DCE4E8"/>
                </a:solidFill>
                <a:latin typeface="PingFang TC"/>
                <a:ea typeface="PingFang TC"/>
                <a:cs typeface="PingFang TC"/>
              </a:rPr>
              <a:t>LC group 28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EF5A0B4-3E67-4E37-BCC5-05D096A62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9310" y="4305300"/>
            <a:ext cx="95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E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D5ED8B0E-8EB1-40DC-8D2D-4EFC6AE2B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4560" y="4381500"/>
            <a:ext cx="2609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CE4E8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DCE4E8"/>
                </a:solidFill>
                <a:latin typeface="PingFang TC"/>
                <a:ea typeface="PingFang TC"/>
                <a:cs typeface="PingFang TC"/>
              </a:rPr>
              <a:t>TG topic 36735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10C07F2B-3960-41B8-AA0D-3596E71C5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9660" y="4305300"/>
            <a:ext cx="95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E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07912520-B7D4-44AD-8712-47E5B53DC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4910" y="4381500"/>
            <a:ext cx="186309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CE4E8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DCE4E8"/>
                </a:solidFill>
                <a:latin typeface="PingFang TC"/>
                <a:ea typeface="PingFang TC"/>
                <a:cs typeface="PingFang TC"/>
              </a:rPr>
              <a:t>zapcops1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0069866D-5203-42F7-AE51-641456F45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24400"/>
            <a:ext cx="9334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B35"/>
          </a:solidFill>
          <a:ln xmlns:a="http://schemas.openxmlformats.org/drawingml/2006/main" w="9525">
            <a:solidFill>
              <a:srgbClr val="2D3E49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7642B0FD-B75E-4D8B-8FBE-F29E55C47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800600"/>
            <a:ext cx="186309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CE4E8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DCE4E8"/>
                </a:solidFill>
                <a:latin typeface="PingFang TC"/>
                <a:ea typeface="PingFang TC"/>
                <a:cs typeface="PingFang TC"/>
              </a:rPr>
              <a:t>TEST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133449EC-5DF2-42FD-93BD-58994C248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2340" y="4724400"/>
            <a:ext cx="95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E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A2DC6F83-BF71-46E5-9D10-4183EC351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7590" y="4800600"/>
            <a:ext cx="223647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CE4E8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DCE4E8"/>
                </a:solidFill>
                <a:latin typeface="PingFang TC"/>
                <a:ea typeface="PingFang TC"/>
                <a:cs typeface="PingFang TC"/>
              </a:rPr>
              <a:t>LC group 23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625FF284-8282-429E-9A23-F3032DD63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9310" y="4724400"/>
            <a:ext cx="95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E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322D828C-8D6F-4F36-BF4F-2AA6A2015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4560" y="4800600"/>
            <a:ext cx="2609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CE4E8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DCE4E8"/>
                </a:solidFill>
                <a:latin typeface="PingFang TC"/>
                <a:ea typeface="PingFang TC"/>
                <a:cs typeface="PingFang TC"/>
              </a:rPr>
              <a:t>測試 Telegram 群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8ABB9FF2-D1B1-4069-8485-1442D8890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9660" y="4724400"/>
            <a:ext cx="95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E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F304F32B-D389-42CF-9336-A69DB6B62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4910" y="4800600"/>
            <a:ext cx="186309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CE4E8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DCE4E8"/>
                </a:solidFill>
                <a:latin typeface="PingFang TC"/>
                <a:ea typeface="PingFang TC"/>
                <a:cs typeface="PingFang TC"/>
              </a:rPr>
              <a:t>N/A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47934153-7F56-4BFD-AB48-B82296F50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476875"/>
            <a:ext cx="933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E7A93A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E7A93A"/>
                </a:solidFill>
                <a:latin typeface="PingFang TC"/>
                <a:ea typeface="PingFang TC"/>
                <a:cs typeface="PingFang TC"/>
              </a:rPr>
              <a:t>新邏輯可以替換分類器，但不能破壞平台對應與正式/測試分流。</a:t>
            </a:r>
          </a:p>
        </p:txBody>
      </p:sp>
    </p:spTree>
    <p:extLst>
      <p:ext uri="{BB962C8B-B14F-4D97-AF65-F5344CB8AC3E}">
        <p14:creationId xmlns:p14="http://schemas.microsoft.com/office/powerpoint/2010/main" val="1601391871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759D36B-6B19-4036-9974-1B319C8E9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EE2064-2BDD-4A98-95A5-5847B8397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95C4A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D95C4A"/>
                </a:solidFill>
                <a:latin typeface="PingFang TC"/>
                <a:ea typeface="PingFang TC"/>
                <a:cs typeface="PingFang TC"/>
              </a:rPr>
              <a:t>STATE DESTINATIONS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8B4E61-94CE-488C-99AB-9425F704B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8650"/>
            <a:ext cx="10096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2550" b="1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狀態代表下一個負責節點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CD81E0-A39B-4E3E-A480-860C1DA3E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1501E0-3EE4-4B67-A0D6-A886C7656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37C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6737C"/>
                </a:solidFill>
                <a:latin typeface="PingFang TC"/>
                <a:ea typeface="PingFang TC"/>
                <a:cs typeface="PingFang TC"/>
              </a:rPr>
              <a:t>客服機器人流程與路由總覽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E2C88D-31DF-433A-A971-097B3D4F3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37C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6737C"/>
                </a:solidFill>
                <a:latin typeface="PingFang TC"/>
                <a:ea typeface="PingFang TC"/>
                <a:cs typeface="PingFang TC"/>
              </a:rPr>
              <a:t>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63CEF0-3C60-41B2-A235-D5620296B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19250"/>
            <a:ext cx="10287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2C"/>
          </a:solidFill>
          <a:ln xmlns:a="http://schemas.openxmlformats.org/drawingml/2006/main" w="9525">
            <a:solidFill>
              <a:srgbClr val="17232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6C2E23-FBB2-4B60-B149-64D0619FF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04975"/>
            <a:ext cx="227838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7F4ED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F7F4ED"/>
                </a:solidFill>
                <a:latin typeface="PingFang TC"/>
                <a:ea typeface="PingFang TC"/>
                <a:cs typeface="PingFang TC"/>
              </a:rPr>
              <a:t>Owner /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68672A-A5D4-4A2E-A731-B14695EB4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6630" y="1704975"/>
            <a:ext cx="238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7F4ED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F7F4ED"/>
                </a:solidFill>
                <a:latin typeface="PingFang TC"/>
                <a:ea typeface="PingFang TC"/>
                <a:cs typeface="PingFang TC"/>
              </a:rPr>
              <a:t>目的地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93C98A-06BA-440F-9E76-F046CE342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8380" y="1704975"/>
            <a:ext cx="505587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7F4ED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F7F4ED"/>
                </a:solidFill>
                <a:latin typeface="PingFang TC"/>
                <a:ea typeface="PingFang TC"/>
                <a:cs typeface="PingFang TC"/>
              </a:rPr>
              <a:t>意義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4A016C-14F1-4948-A5A4-34D3CA15F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81200"/>
            <a:ext cx="10287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CAB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869A80-15E1-437E-B662-EBFBB114B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57400"/>
            <a:ext cx="227838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CUSTOMER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EBFB49-8816-4ADF-A02E-45CC76A52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1380" y="1981200"/>
            <a:ext cx="95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AA3D6B-8C06-45AF-90DF-DC64F8842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6630" y="2057400"/>
            <a:ext cx="2381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客戶端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3832D9-15F8-4C94-B351-20D8FBB8B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3130" y="1981200"/>
            <a:ext cx="95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C687C7-A2DF-4CE6-96F5-DB6C1D97F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8380" y="2057400"/>
            <a:ext cx="505587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等待客戶補身份、截圖、選項或新訊息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3C9269-D3E5-4A60-A447-A18AA28C4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09850"/>
            <a:ext cx="10287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9525">
            <a:solidFill>
              <a:srgbClr val="D4CAB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FDFD44-D8DF-44B3-8868-4F8EC3F40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86050"/>
            <a:ext cx="227838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BOT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D0D5CC-229E-4B00-A44D-C15F9139B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1380" y="2609850"/>
            <a:ext cx="95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D89C9F-0BF3-4F69-830D-D79570066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6630" y="2686050"/>
            <a:ext cx="2381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系統工具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47DCE5-43C4-4A68-97B6-BFD3B89BC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3130" y="2609850"/>
            <a:ext cx="95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25D26E-9938-45FB-8B67-0FF8A455A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8380" y="2686050"/>
            <a:ext cx="505587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後台查詢、既有案件查找、狀態轉換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361963-2955-4B67-8045-4CF00B56B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38500"/>
            <a:ext cx="10287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CAB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2F9AA6A-94D9-46C2-985C-592516661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14700"/>
            <a:ext cx="227838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TG_BACKEND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4727026-C335-4E50-945F-9C8D8A6B7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1380" y="3238500"/>
            <a:ext cx="95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80DB883-A97B-4AAB-A815-827289B31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6630" y="3314700"/>
            <a:ext cx="2381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Telegram 後台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BF6310F-BC73-48D0-8F46-3421329FD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3130" y="3238500"/>
            <a:ext cx="95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B7C7556-04CA-4177-A5D9-9BC6B5B52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8380" y="3314700"/>
            <a:ext cx="505587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案件已送後台，後續補資料 append 到同案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4A2912E-3DCA-4CBE-95FA-63143D584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67150"/>
            <a:ext cx="10287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9525">
            <a:solidFill>
              <a:srgbClr val="D4CAB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5CAD3A9-1901-4185-853D-E6F9720D6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43350"/>
            <a:ext cx="227838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HUMAN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C2E3278-20E5-40CB-9E1F-29536C047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1380" y="3867150"/>
            <a:ext cx="95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278CC45-1F8B-4CBF-9FB5-30B684C3A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6630" y="3943350"/>
            <a:ext cx="2381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真人客服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E58741C-A3A5-4A56-9E6F-D9096D967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3130" y="3867150"/>
            <a:ext cx="95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F6FA914-D75C-4EA1-8E69-83E64CDC2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8380" y="3943350"/>
            <a:ext cx="505587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自動流程停止或降低干預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6120B0C-5C3E-4A6C-A942-94C937D92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95800"/>
            <a:ext cx="10287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CAB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1F0516C-A403-441F-A489-DCC67BC3A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72000"/>
            <a:ext cx="227838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SOFT_PARKED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9A2C393-6302-4015-B95F-11BA2C786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1380" y="4495800"/>
            <a:ext cx="95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B5C6D0E-E567-480E-B016-57E931E5D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6630" y="4572000"/>
            <a:ext cx="2381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已暫停推進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8CE8DFA-BF0C-4D55-B0B4-5BFA73BA9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3130" y="4495800"/>
            <a:ext cx="95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27FF7F7-6E90-4BB5-84B5-B30583474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8380" y="4572000"/>
            <a:ext cx="505587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客戶明確解決或流程暫時結束</a:t>
            </a:r>
          </a:p>
        </p:txBody>
      </p:sp>
    </p:spTree>
    <p:extLst>
      <p:ext uri="{BB962C8B-B14F-4D97-AF65-F5344CB8AC3E}">
        <p14:creationId xmlns:p14="http://schemas.microsoft.com/office/powerpoint/2010/main" val="236422823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EFC0386-0EC9-41F2-B17B-8C875E5DD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45763F-ED72-4BC2-A7C1-65510B162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7A93A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E7A93A"/>
                </a:solidFill>
                <a:latin typeface="PingFang TC"/>
                <a:ea typeface="PingFang TC"/>
                <a:cs typeface="PingFang TC"/>
              </a:rPr>
              <a:t>NEW LOGIC INTEGRATION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B1A89C-9BCC-4A92-9F6F-47D8F8054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8650"/>
            <a:ext cx="10096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7F4ED"/>
                </a:solidFill>
                <a:latin typeface="PingFang TC"/>
                <a:ea typeface="PingFang TC"/>
                <a:cs typeface="PingFang TC"/>
              </a:defRPr>
            </a:pPr>
            <a:r>
              <a:rPr sz="2550" b="1">
                <a:solidFill>
                  <a:srgbClr val="F7F4ED"/>
                </a:solidFill>
                <a:latin typeface="PingFang TC"/>
                <a:ea typeface="PingFang TC"/>
                <a:cs typeface="PingFang TC"/>
              </a:rPr>
              <a:t>新邏輯連接路徑與工具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7234EC-72E0-4B10-B541-34DF85534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3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A9AF43-E134-4120-8439-BAB4C010A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8B2B9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A8B2B9"/>
                </a:solidFill>
                <a:latin typeface="PingFang TC"/>
                <a:ea typeface="PingFang TC"/>
                <a:cs typeface="PingFang TC"/>
              </a:rPr>
              <a:t>客服機器人流程與路由總覽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DF0A1C-9F84-4ACB-88C9-AD0E999D4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8B2B9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A8B2B9"/>
                </a:solidFill>
                <a:latin typeface="PingFang TC"/>
                <a:ea typeface="PingFang TC"/>
                <a:cs typeface="PingFang TC"/>
              </a:rPr>
              <a:t>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B5EF08-43E5-49D4-9791-B6702921F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90750"/>
            <a:ext cx="1714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D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D3C273-326F-43EA-A1C4-235ED07FA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14859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自由文字理解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B4DCA3-D14C-4575-B150-56E98FAAC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457450"/>
            <a:ext cx="38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AAB6BE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AAB6BE"/>
                </a:solidFill>
                <a:latin typeface="PingFang TC"/>
                <a:ea typeface="PingFang TC"/>
                <a:cs typeface="PingFang TC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CDAEF1-4C16-4F24-B9DE-3E150313B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190750"/>
            <a:ext cx="1619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9B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8F7AA5-45B5-4780-85E8-09A9C4930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305050"/>
            <a:ext cx="13906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路徑選擇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F0C6AA-6B19-4527-8AF3-92671AFEB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457450"/>
            <a:ext cx="38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AAB6BE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AAB6BE"/>
                </a:solidFill>
                <a:latin typeface="PingFang TC"/>
                <a:ea typeface="PingFang TC"/>
                <a:cs typeface="PingFang TC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EB3408-3110-452B-9EDB-71F3E3923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190750"/>
            <a:ext cx="1619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C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BBA0FD-AA7A-430B-B0C1-313761EE2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305050"/>
            <a:ext cx="13906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工具/目的地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5155FB-3C03-4668-BFE4-75757D0C0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57450"/>
            <a:ext cx="38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AAB6BE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AAB6BE"/>
                </a:solidFill>
                <a:latin typeface="PingFang TC"/>
                <a:ea typeface="PingFang TC"/>
                <a:cs typeface="PingFang TC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0EE907-8B54-4C28-A072-0DCE2BF16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190750"/>
            <a:ext cx="1619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A9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16776F-6550-4743-A536-E91A4F034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305050"/>
            <a:ext cx="13906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自然回覆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AE762A-9DDB-4002-8BCD-C8DA104CE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457450"/>
            <a:ext cx="38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AAB6BE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AAB6BE"/>
                </a:solidFill>
                <a:latin typeface="PingFang TC"/>
                <a:ea typeface="PingFang TC"/>
                <a:cs typeface="PingFang TC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48FA32-AD3A-4BBF-8521-4B9A1CAE0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190750"/>
            <a:ext cx="1143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9B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54D0F3-612C-4B81-8BA3-664862217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2305050"/>
            <a:ext cx="914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狀態更新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F32618-E41C-437F-A3EA-F205FD4B4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905250"/>
            <a:ext cx="8572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33D"/>
          </a:solidFill>
          <a:ln xmlns:a="http://schemas.openxmlformats.org/drawingml/2006/main" w="9525">
            <a:solidFill>
              <a:srgbClr val="24333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ABB4E6-F47E-43FA-927E-94732B2EE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990975"/>
            <a:ext cx="2209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7F4ED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F7F4ED"/>
                </a:solidFill>
                <a:latin typeface="PingFang TC"/>
                <a:ea typeface="PingFang TC"/>
                <a:cs typeface="PingFang TC"/>
              </a:rPr>
              <a:t>類型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30BF7FD-CFFE-4F7F-BE93-048480587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990975"/>
            <a:ext cx="5981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7F4ED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F7F4ED"/>
                </a:solidFill>
                <a:latin typeface="PingFang TC"/>
                <a:ea typeface="PingFang TC"/>
                <a:cs typeface="PingFang TC"/>
              </a:rPr>
              <a:t>範圍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948F37E-D327-4E30-9EE7-CF4BA9DF6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267200"/>
            <a:ext cx="857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42D"/>
          </a:solidFill>
          <a:ln xmlns:a="http://schemas.openxmlformats.org/drawingml/2006/main" w="9525">
            <a:solidFill>
              <a:srgbClr val="2D3E49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C90D132-2313-4EC0-9F5E-812A8B311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343400"/>
            <a:ext cx="2209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CE4E8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DCE4E8"/>
                </a:solidFill>
                <a:latin typeface="PingFang TC"/>
                <a:ea typeface="PingFang TC"/>
                <a:cs typeface="PingFang TC"/>
              </a:rPr>
              <a:t>可替換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DEE59E8-8DAE-4106-897B-B585CD0CF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2672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E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1282D98-0DD2-4EF5-BFE6-056D45CBE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343400"/>
            <a:ext cx="5981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4E8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DCE4E8"/>
                </a:solidFill>
                <a:latin typeface="PingFang TC"/>
                <a:ea typeface="PingFang TC"/>
                <a:cs typeface="PingFang TC"/>
              </a:rPr>
              <a:t>訊息分類器、回覆生成、手冊與案例檢索、語氣調整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54D4E03-48A5-4EB5-9D15-0BF62312B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819650"/>
            <a:ext cx="857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B35"/>
          </a:solidFill>
          <a:ln xmlns:a="http://schemas.openxmlformats.org/drawingml/2006/main" w="9525">
            <a:solidFill>
              <a:srgbClr val="2D3E4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773AC93-830D-4863-8B21-5335BA238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895850"/>
            <a:ext cx="2209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CE4E8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DCE4E8"/>
                </a:solidFill>
                <a:latin typeface="PingFang TC"/>
                <a:ea typeface="PingFang TC"/>
                <a:cs typeface="PingFang TC"/>
              </a:rPr>
              <a:t>不可替換成猜測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B645593-4124-4521-A8BF-4A2EDC933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81965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E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7ACBF41-DFF9-445D-B0A7-A3D827290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895850"/>
            <a:ext cx="5981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4E8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DCE4E8"/>
                </a:solidFill>
                <a:latin typeface="PingFang TC"/>
                <a:ea typeface="PingFang TC"/>
                <a:cs typeface="PingFang TC"/>
              </a:rPr>
              <a:t>金流狀態、提款狀態、rollover 結果、平台路由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156F749-3631-4D0A-9C87-2E0D15806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372100"/>
            <a:ext cx="857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42D"/>
          </a:solidFill>
          <a:ln xmlns:a="http://schemas.openxmlformats.org/drawingml/2006/main" w="9525">
            <a:solidFill>
              <a:srgbClr val="2D3E49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89F1D4A-8387-4A71-8897-8D44BA2D4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448300"/>
            <a:ext cx="2209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CE4E8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DCE4E8"/>
                </a:solidFill>
                <a:latin typeface="PingFang TC"/>
                <a:ea typeface="PingFang TC"/>
                <a:cs typeface="PingFang TC"/>
              </a:rPr>
              <a:t>必要 guardrail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66954C0-9201-4BEB-9BA0-9EA2170BB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53721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E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837D163-0EBB-4805-A7CE-E5C271197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448300"/>
            <a:ext cx="5981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4E8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DCE4E8"/>
                </a:solidFill>
                <a:latin typeface="PingFang TC"/>
                <a:ea typeface="PingFang TC"/>
                <a:cs typeface="PingFang TC"/>
              </a:rPr>
              <a:t>所有 action 先通過 route policy，再呼叫工具或送人</a:t>
            </a:r>
          </a:p>
        </p:txBody>
      </p:sp>
    </p:spTree>
    <p:extLst>
      <p:ext uri="{BB962C8B-B14F-4D97-AF65-F5344CB8AC3E}">
        <p14:creationId xmlns:p14="http://schemas.microsoft.com/office/powerpoint/2010/main" val="851440839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1D39857-1670-4B92-B42A-6D00DDD2F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03778D-A0B0-4024-AADA-8C6A201FE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95C4A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D95C4A"/>
                </a:solidFill>
                <a:latin typeface="PingFang TC"/>
                <a:ea typeface="PingFang TC"/>
                <a:cs typeface="PingFang TC"/>
              </a:rPr>
              <a:t>NEXT SCOPE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4CEDBB-D27F-4361-9F70-BC9EDEEA7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8650"/>
            <a:ext cx="10096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2550" b="1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後續系統工作範圍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E6FBFB-85B9-43C9-89E3-FB7243C1D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BB8BBB-5898-4A7D-9F2C-1D068B56A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37C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6737C"/>
                </a:solidFill>
                <a:latin typeface="PingFang TC"/>
                <a:ea typeface="PingFang TC"/>
                <a:cs typeface="PingFang TC"/>
              </a:rPr>
              <a:t>客服機器人流程與路由總覽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FCD4B6-6976-4F39-91BE-881940CCA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37C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6737C"/>
                </a:solidFill>
                <a:latin typeface="PingFang TC"/>
                <a:ea typeface="PingFang TC"/>
                <a:cs typeface="PingFang TC"/>
              </a:rPr>
              <a:t>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B958CC-D8D6-4D65-9135-3F3549C3C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10668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2C"/>
          </a:solidFill>
          <a:ln xmlns:a="http://schemas.openxmlformats.org/drawingml/2006/main" w="9525">
            <a:solidFill>
              <a:srgbClr val="17232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A62883-C574-408C-B68D-231B05109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14475"/>
            <a:ext cx="258318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7F4ED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F7F4ED"/>
                </a:solidFill>
                <a:latin typeface="PingFang TC"/>
                <a:ea typeface="PingFang TC"/>
                <a:cs typeface="PingFang TC"/>
              </a:rPr>
              <a:t>範圍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889FD7-70B2-44C1-96CF-B23248A07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0930" y="1514475"/>
            <a:ext cx="770382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7F4ED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F7F4ED"/>
                </a:solidFill>
                <a:latin typeface="PingFang TC"/>
                <a:ea typeface="PingFang TC"/>
                <a:cs typeface="PingFang TC"/>
              </a:rPr>
              <a:t>說明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A7D4E9-4CCE-4016-A907-6327745B3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10668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CAB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A6ABDE-7000-42D0-8C53-39EE3378C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66900"/>
            <a:ext cx="258318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路由規格整理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51A851-2B99-41DF-8F77-0831696FC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5680" y="1790700"/>
            <a:ext cx="95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5D238D-CA05-4317-8263-7287BB264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0930" y="1866900"/>
            <a:ext cx="770382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把 intent、state、destination、fallback 梳理成可測試規格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E73BAF-2046-4416-A37D-4472B8F7A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62200"/>
            <a:ext cx="10668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9525">
            <a:solidFill>
              <a:srgbClr val="D4CAB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CEBA9A-E7FC-4834-BAA9-23445DD14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38400"/>
            <a:ext cx="258318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分類層升級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3394CD-65AB-4972-8141-DAAAF4EE8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5680" y="2362200"/>
            <a:ext cx="95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D55246-9540-4EAC-BF2C-019700F61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0930" y="2438400"/>
            <a:ext cx="770382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用新邏輯判斷客戶訊息，但輸出仍是固定 route id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E7CD27-6622-4ADE-B593-F1D46F9C8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33700"/>
            <a:ext cx="10668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CAB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76A9B4-CF08-4D81-A525-3B98E584A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9900"/>
            <a:ext cx="258318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工具層保護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3BFC49-119A-41E5-9A68-659BD269B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5680" y="2933700"/>
            <a:ext cx="95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C29EC2-F3EF-4BD2-A0F2-8649174ED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0930" y="3009900"/>
            <a:ext cx="770382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TG、後台查詢、LiveChat handoff 仍由受控 command 執行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0D9352C-17F7-4FBD-AFA7-349CE2593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05200"/>
            <a:ext cx="10668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9525">
            <a:solidFill>
              <a:srgbClr val="D4CAB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C9E34A9-F655-4BED-8565-255E9C3C0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81400"/>
            <a:ext cx="258318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回覆層升級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526097-06E0-48AC-AD2B-483529FD9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5680" y="3505200"/>
            <a:ext cx="95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B31D51C-FC4D-4423-919A-E110A7BF8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0930" y="3581400"/>
            <a:ext cx="770382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生成更自然的客服回覆，降低固定問答感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C77003C-1C26-4D6D-B06A-9FB8894A4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76700"/>
            <a:ext cx="10668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CAB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0A78C31-CB4D-42CB-B865-C7CF5590E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52900"/>
            <a:ext cx="258318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評估資料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699622E-0EAD-4268-8A1C-B97C191E1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5680" y="4076700"/>
            <a:ext cx="95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195AF17-81F7-40D5-8C27-B0C20F0AC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0930" y="4152900"/>
            <a:ext cx="770382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用 deposit / withdrawal / rollover / human / TG reply 場景做 replay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5AB81D6-A29A-4EF3-802A-B12302AED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48200"/>
            <a:ext cx="10668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9525">
            <a:solidFill>
              <a:srgbClr val="D4CAB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E5C3280-992D-4C07-A6D9-C10C63AE8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24400"/>
            <a:ext cx="258318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正式/測試隔離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FAAA4FD-5CF0-4103-8212-0ECF2A2E7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5680" y="4648200"/>
            <a:ext cx="95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0E6569D-1A83-44A9-A052-90189229F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0930" y="4724400"/>
            <a:ext cx="770382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維持平台 topic、測試群、正式群路由不混用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D56AB6C-FDA9-4CBE-88B4-33A76F1BD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86375"/>
            <a:ext cx="1009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D95C4A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>
                <a:solidFill>
                  <a:srgbClr val="D95C4A"/>
                </a:solidFill>
                <a:latin typeface="PingFang TC"/>
                <a:ea typeface="PingFang TC"/>
                <a:cs typeface="PingFang TC"/>
              </a:rPr>
              <a:t>目標：客戶怎麼說都能被理解，但最後一定落到正確且可驗證的路徑。</a:t>
            </a:r>
          </a:p>
        </p:txBody>
      </p:sp>
    </p:spTree>
    <p:extLst>
      <p:ext uri="{BB962C8B-B14F-4D97-AF65-F5344CB8AC3E}">
        <p14:creationId xmlns:p14="http://schemas.microsoft.com/office/powerpoint/2010/main" val="216524781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266B704-BF9B-45BF-A970-12461AB3D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6D3CC9-F2E5-4F3B-B307-E5C8B9FB7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7A93A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E7A93A"/>
                </a:solidFill>
                <a:latin typeface="PingFang TC"/>
                <a:ea typeface="PingFang TC"/>
                <a:cs typeface="PingFang TC"/>
              </a:rPr>
              <a:t>TARGET STATE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2E81FD-D443-4D93-9230-B287851A9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8650"/>
            <a:ext cx="10096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7F4ED"/>
                </a:solidFill>
                <a:latin typeface="PingFang TC"/>
                <a:ea typeface="PingFang TC"/>
                <a:cs typeface="PingFang TC"/>
              </a:defRPr>
            </a:pPr>
            <a:r>
              <a:rPr sz="2550" b="1">
                <a:solidFill>
                  <a:srgbClr val="F7F4ED"/>
                </a:solidFill>
                <a:latin typeface="PingFang TC"/>
                <a:ea typeface="PingFang TC"/>
                <a:cs typeface="PingFang TC"/>
              </a:rPr>
              <a:t>目標狀態：受規則約束的智能客服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38E835-10AC-4556-AA1F-FF6D90551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3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2E8169-CBFD-4FE9-A444-8AE902B53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8B2B9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A8B2B9"/>
                </a:solidFill>
                <a:latin typeface="PingFang TC"/>
                <a:ea typeface="PingFang TC"/>
                <a:cs typeface="PingFang TC"/>
              </a:rPr>
              <a:t>客服機器人流程與路由總覽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AC79F5-7483-491F-A3A3-61A6E396A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8B2B9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A8B2B9"/>
                </a:solidFill>
                <a:latin typeface="PingFang TC"/>
                <a:ea typeface="PingFang TC"/>
                <a:cs typeface="PingFang TC"/>
              </a:rPr>
              <a:t>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A24419-7F18-4EEF-BE00-5766F2B93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38375"/>
            <a:ext cx="14763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9B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10A5F5-3784-41AB-8F54-07BCE5363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52675"/>
            <a:ext cx="12477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客戶自由輸入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F558E8-7871-4C66-A3BD-1FC4CABDE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457450"/>
            <a:ext cx="38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AAB6BE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AAB6BE"/>
                </a:solidFill>
                <a:latin typeface="PingFang TC"/>
                <a:ea typeface="PingFang TC"/>
                <a:cs typeface="PingFang TC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3CE864-72B3-4D57-A581-1255C18D3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114550"/>
            <a:ext cx="1619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D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760C91-F0DD-44E8-A341-E4320F855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228850"/>
            <a:ext cx="13906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理解意圖</a:t>
            </a:r>
          </a:p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與上下文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5753A1-3C1C-47DC-AF9D-BA40498D4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457450"/>
            <a:ext cx="38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AAB6BE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AAB6BE"/>
                </a:solidFill>
                <a:latin typeface="PingFang TC"/>
                <a:ea typeface="PingFang TC"/>
                <a:cs typeface="PingFang TC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22C8D8-C716-4D4B-A67F-7C872B688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114550"/>
            <a:ext cx="1619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A9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B8B4B9-D15D-44FE-BAA7-F39E15070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228850"/>
            <a:ext cx="13906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查規則</a:t>
            </a:r>
          </a:p>
          <a:p xmlns:a="http://schemas.openxmlformats.org/drawingml/2006/main">
            <a:pPr algn="ctr">
              <a:defRPr sz="1275" b="1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與可用資料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655A67-05F9-4CF3-B2FC-63BB74219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457450"/>
            <a:ext cx="38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AAB6BE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AAB6BE"/>
                </a:solidFill>
                <a:latin typeface="PingFang TC"/>
                <a:ea typeface="PingFang TC"/>
                <a:cs typeface="PingFang TC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E5FF57-BBD5-4DAB-8860-D277F2D03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114550"/>
            <a:ext cx="1619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C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A3C866-4B09-4260-BBE7-1C48361DD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228850"/>
            <a:ext cx="13906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選路徑</a:t>
            </a:r>
          </a:p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或工具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C703A2-342A-4522-AE04-BABDDE0F3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457450"/>
            <a:ext cx="38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AAB6BE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AAB6BE"/>
                </a:solidFill>
                <a:latin typeface="PingFang TC"/>
                <a:ea typeface="PingFang TC"/>
                <a:cs typeface="PingFang TC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29D876-9C41-4A1C-8EED-AF16C7357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114550"/>
            <a:ext cx="1428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9B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9599F2-B062-4F5F-829B-9D0E8015B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228850"/>
            <a:ext cx="12001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自然回覆</a:t>
            </a:r>
          </a:p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或轉接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D74740-5063-433D-9D51-7F57A5667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00500"/>
            <a:ext cx="9525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D2A"/>
          </a:solidFill>
          <a:ln xmlns:a="http://schemas.openxmlformats.org/drawingml/2006/main" w="9525">
            <a:solidFill>
              <a:srgbClr val="1E9B7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64E2C0-6AE7-4EC6-AF5C-D099AA256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171950"/>
            <a:ext cx="88773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7F4ED"/>
                </a:solidFill>
                <a:latin typeface="PingFang TC"/>
                <a:ea typeface="PingFang TC"/>
                <a:cs typeface="PingFang TC"/>
              </a:defRPr>
            </a:pPr>
            <a:r>
              <a:rPr sz="1575" b="1">
                <a:solidFill>
                  <a:srgbClr val="F7F4ED"/>
                </a:solidFill>
                <a:latin typeface="PingFang TC"/>
                <a:ea typeface="PingFang TC"/>
                <a:cs typeface="PingFang TC"/>
              </a:rPr>
              <a:t>理想狀態不是固定流程問答，而是客戶怎麼描述，系統都能判斷 intent、選擇正確 route、使用必要工具，並用接近真人客服的方式回覆。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A854DBF-A6DB-4266-B967-36CADB5E6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219700"/>
            <a:ext cx="8001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FD9DE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CFD9DE"/>
                </a:solidFill>
                <a:latin typeface="PingFang TC"/>
                <a:ea typeface="PingFang TC"/>
                <a:cs typeface="PingFang TC"/>
              </a:rPr>
              <a:t>• 所有金流與帳戶事實仍由後台、Telegram 回覆、已驗證 state 或真人提供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F5B62E-B667-4109-AD71-85060519D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505450"/>
            <a:ext cx="8001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FD9DE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CFD9DE"/>
                </a:solidFill>
                <a:latin typeface="PingFang TC"/>
                <a:ea typeface="PingFang TC"/>
                <a:cs typeface="PingFang TC"/>
              </a:rPr>
              <a:t>• 客服手冊與風險規則是回覆與行動的上限</a:t>
            </a:r>
          </a:p>
        </p:txBody>
      </p:sp>
    </p:spTree>
    <p:extLst>
      <p:ext uri="{BB962C8B-B14F-4D97-AF65-F5344CB8AC3E}">
        <p14:creationId xmlns:p14="http://schemas.microsoft.com/office/powerpoint/2010/main" val="956723040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3FA9F0C-B167-48FF-A63B-A6CAFF3A8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D5B112-61C5-484A-BE8E-E9E872C46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95C4A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D95C4A"/>
                </a:solidFill>
                <a:latin typeface="PingFang TC"/>
                <a:ea typeface="PingFang TC"/>
                <a:cs typeface="PingFang TC"/>
              </a:rPr>
              <a:t>TARGET CAPABILITIES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EB9FC3-04D7-4582-AC25-71E3E261A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8650"/>
            <a:ext cx="10096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2550" b="1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目標能力分層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E5EA8A-6A69-4827-8928-53D9F85A8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4A13CD-77AC-44F7-ABB1-588748BC3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37C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6737C"/>
                </a:solidFill>
                <a:latin typeface="PingFang TC"/>
                <a:ea typeface="PingFang TC"/>
                <a:cs typeface="PingFang TC"/>
              </a:rPr>
              <a:t>客服機器人流程與路由總覽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22A26A-0BB0-4193-8414-973AA6D9C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37C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6737C"/>
                </a:solidFill>
                <a:latin typeface="PingFang TC"/>
                <a:ea typeface="PingFang TC"/>
                <a:cs typeface="PingFang TC"/>
              </a:rPr>
              <a:t>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D44C0F-BAE3-47BB-81A0-EF6E1E199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10858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2C"/>
          </a:solidFill>
          <a:ln xmlns:a="http://schemas.openxmlformats.org/drawingml/2006/main" w="9525">
            <a:solidFill>
              <a:srgbClr val="17232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DBCBFF-B47D-4921-AFD8-EE0865001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62100"/>
            <a:ext cx="165544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7F4ED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F7F4ED"/>
                </a:solidFill>
                <a:latin typeface="PingFang TC"/>
                <a:ea typeface="PingFang TC"/>
                <a:cs typeface="PingFang TC"/>
              </a:rPr>
              <a:t>層級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D44068-9A5D-4099-BDFB-E8BDFB964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7945" y="1562100"/>
            <a:ext cx="57816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7F4ED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F7F4ED"/>
                </a:solidFill>
                <a:latin typeface="PingFang TC"/>
                <a:ea typeface="PingFang TC"/>
                <a:cs typeface="PingFang TC"/>
              </a:rPr>
              <a:t>目標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4535FB-8CB4-4133-A5B1-8542DB9D7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0120" y="1562100"/>
            <a:ext cx="284988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7F4ED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F7F4ED"/>
                </a:solidFill>
                <a:latin typeface="PingFang TC"/>
                <a:ea typeface="PingFang TC"/>
                <a:cs typeface="PingFang TC"/>
              </a:rPr>
              <a:t>限制 / 輸出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507FFA-2288-4333-8757-34060ADB8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38325"/>
            <a:ext cx="10858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CAB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378D87-C470-42E1-904E-B0A0208E6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14525"/>
            <a:ext cx="165544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理解層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1B2AD7-F858-4AF4-B6FC-E842DD60E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2695" y="1838325"/>
            <a:ext cx="95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825C61-90EF-40D4-83BE-ED9797D20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7945" y="1914525"/>
            <a:ext cx="57816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辨識自由文字、口語、錯字、長上下文、情緒與補資料訊號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F87C8E-A40A-41B8-83B5-F54B029CB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4870" y="1838325"/>
            <a:ext cx="95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FA40B7-0941-4259-874C-863CD0099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0120" y="1914525"/>
            <a:ext cx="284988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輸出 intent / confidence / evidence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5FD3AE-357A-47B0-B5F2-DA98A25F5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24125"/>
            <a:ext cx="10858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9525">
            <a:solidFill>
              <a:srgbClr val="D4CAB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004275-CFD5-4980-9FC3-3CC0301FA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0325"/>
            <a:ext cx="165544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決策層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582EFC-EA80-40DE-8919-6DD214C46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2695" y="2524125"/>
            <a:ext cx="95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A6734D-233F-4273-BE9D-7CFF1F747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7945" y="2600325"/>
            <a:ext cx="57816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選擇 deposit、withdrawal、rollover、previous case、human 等 route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3DECD5-6E70-465D-A692-C98F3D56C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4870" y="2524125"/>
            <a:ext cx="95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4D47FD-CC6F-47B1-87C0-7EECA67A0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0120" y="2600325"/>
            <a:ext cx="284988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不直接宣告金流結果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0717CCB-1746-4E43-A8C1-312B63520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09925"/>
            <a:ext cx="10858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CAB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F65E6B-DD45-4324-9062-84D51DA86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86125"/>
            <a:ext cx="165544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工具層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EF2EEFD-6078-47D3-9ED3-EB14EE633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2695" y="3209925"/>
            <a:ext cx="95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4A319C1-1A91-422A-9927-6F91AAE78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7945" y="3286125"/>
            <a:ext cx="57816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呼叫後台查詢、建立 TG case、append 補資料、LiveChat handoff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FCA228C-2198-45F4-8B6B-4F228AD0C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4870" y="3209925"/>
            <a:ext cx="95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108547F-721B-4C70-84B0-1403921CD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0120" y="3286125"/>
            <a:ext cx="284988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只使用可驗證資料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9CABED1-B84C-4DC0-9D11-7E32919EE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95725"/>
            <a:ext cx="10858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9525">
            <a:solidFill>
              <a:srgbClr val="D4CAB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4B10D5D-B841-43D1-8525-D1E77A9DF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71925"/>
            <a:ext cx="165544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回覆層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9EF78AE-5F5E-4977-889C-9DB6891AD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2695" y="3895725"/>
            <a:ext cx="95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D55D38E-0FC8-4842-9632-BFD78DAB6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7945" y="3971925"/>
            <a:ext cx="57816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生成自然、多樣、貼近真人客服的回覆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5DE504E-B70D-44F8-A833-3DA0DF696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4870" y="3895725"/>
            <a:ext cx="95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42BDE57-0615-4993-A9FB-3A9F29A63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0120" y="3971925"/>
            <a:ext cx="284988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不可違背客服手冊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038D812-84A5-4D36-8EF7-EE9FA2E4F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81525"/>
            <a:ext cx="10858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CAB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4D44741-45B5-44AD-97A2-A463885FC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57725"/>
            <a:ext cx="165544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治理層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04347F9-8924-4453-8230-02BB9246A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2695" y="4581525"/>
            <a:ext cx="95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9189EC0-6B51-49DD-8076-34EF31AA7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7945" y="4657725"/>
            <a:ext cx="57816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記錄每次 route、工具結果、LLM 輸出與人工覆核訊號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B25E306-AF45-480D-B0A1-7637A2CE5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4870" y="4581525"/>
            <a:ext cx="95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AACDC21-9013-4EC2-94AA-5902E4E42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0120" y="4657725"/>
            <a:ext cx="284988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支援 replay 與回歸測試</a:t>
            </a:r>
          </a:p>
        </p:txBody>
      </p:sp>
    </p:spTree>
    <p:extLst>
      <p:ext uri="{BB962C8B-B14F-4D97-AF65-F5344CB8AC3E}">
        <p14:creationId xmlns:p14="http://schemas.microsoft.com/office/powerpoint/2010/main" val="937588995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6E19E1E-544F-4E75-8BCB-0969544B2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451EE4-370C-4D95-9EDF-EEBCBA086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7A93A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E7A93A"/>
                </a:solidFill>
                <a:latin typeface="PingFang TC"/>
                <a:ea typeface="PingFang TC"/>
                <a:cs typeface="PingFang TC"/>
              </a:rPr>
              <a:t>NEXT DIRECTION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FE269C-7FD8-4197-93F3-D9F0F16E2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8650"/>
            <a:ext cx="10096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7F4ED"/>
                </a:solidFill>
                <a:latin typeface="PingFang TC"/>
                <a:ea typeface="PingFang TC"/>
                <a:cs typeface="PingFang TC"/>
              </a:defRPr>
            </a:pPr>
            <a:r>
              <a:rPr sz="2550" b="1">
                <a:solidFill>
                  <a:srgbClr val="F7F4ED"/>
                </a:solidFill>
                <a:latin typeface="PingFang TC"/>
                <a:ea typeface="PingFang TC"/>
                <a:cs typeface="PingFang TC"/>
              </a:rPr>
              <a:t>下一階段重點：從固定流程到情境判斷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94E0E2-5200-4E18-8EA8-12B18A2DE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3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D9B57C-7E07-4E98-8488-862238E7C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8B2B9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A8B2B9"/>
                </a:solidFill>
                <a:latin typeface="PingFang TC"/>
                <a:ea typeface="PingFang TC"/>
                <a:cs typeface="PingFang TC"/>
              </a:rPr>
              <a:t>客服機器人流程與路由總覽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CEAB69-8C59-4779-9986-A4EECB0A1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8B2B9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A8B2B9"/>
                </a:solidFill>
                <a:latin typeface="PingFang TC"/>
                <a:ea typeface="PingFang TC"/>
                <a:cs typeface="PingFang TC"/>
              </a:rPr>
              <a:t>19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123AEC-EBE0-4C3F-B958-89313FA94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285875"/>
            <a:ext cx="10477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33D"/>
          </a:solidFill>
          <a:ln xmlns:a="http://schemas.openxmlformats.org/drawingml/2006/main" w="9525">
            <a:solidFill>
              <a:srgbClr val="24333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CA233A-0400-4063-A6BD-9279F4C9C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371600"/>
            <a:ext cx="2324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7F4ED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F7F4ED"/>
                </a:solidFill>
                <a:latin typeface="PingFang TC"/>
                <a:ea typeface="PingFang TC"/>
                <a:cs typeface="PingFang TC"/>
              </a:rPr>
              <a:t>方向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CE4F48-2946-4F45-83F0-F2BBFB949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371600"/>
            <a:ext cx="7772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7F4ED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F7F4ED"/>
                </a:solidFill>
                <a:latin typeface="PingFang TC"/>
                <a:ea typeface="PingFang TC"/>
                <a:cs typeface="PingFang TC"/>
              </a:rPr>
              <a:t>重點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79ECE3-BFE3-46D9-9016-B23168B19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47825"/>
            <a:ext cx="10477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42D"/>
          </a:solidFill>
          <a:ln xmlns:a="http://schemas.openxmlformats.org/drawingml/2006/main" w="9525">
            <a:solidFill>
              <a:srgbClr val="2D3E4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9FDEB7-C379-4E5B-A051-60651B237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24025"/>
            <a:ext cx="2324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CE4E8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DCE4E8"/>
                </a:solidFill>
                <a:latin typeface="PingFang TC"/>
                <a:ea typeface="PingFang TC"/>
                <a:cs typeface="PingFang TC"/>
              </a:rPr>
              <a:t>保留現有路徑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1EBB4C-8390-4C16-ABFC-58C9025F0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647825"/>
            <a:ext cx="95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E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7A1CFB-FB17-40CA-B6AF-4B8D6E5EA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724025"/>
            <a:ext cx="7772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CE4E8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DCE4E8"/>
                </a:solidFill>
                <a:latin typeface="PingFang TC"/>
                <a:ea typeface="PingFang TC"/>
                <a:cs typeface="PingFang TC"/>
              </a:rPr>
              <a:t>存款、提款、流水、上一案、教學流程、等待後台、TG 回覆、轉真人都要有明確出口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475B45-2DF0-4473-845F-61EEA2F38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57425"/>
            <a:ext cx="10477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B35"/>
          </a:solidFill>
          <a:ln xmlns:a="http://schemas.openxmlformats.org/drawingml/2006/main" w="9525">
            <a:solidFill>
              <a:srgbClr val="2D3E4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2D00F6-35D1-4CC3-8DD1-775E9FDD2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2324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CE4E8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DCE4E8"/>
                </a:solidFill>
                <a:latin typeface="PingFang TC"/>
                <a:ea typeface="PingFang TC"/>
                <a:cs typeface="PingFang TC"/>
              </a:rPr>
              <a:t>重做上層判斷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D8DE13-BA98-4517-8975-31B82B21B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257425"/>
            <a:ext cx="95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E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866188-D3BC-4E47-8A6A-799C731A1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333625"/>
            <a:ext cx="7772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CE4E8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DCE4E8"/>
                </a:solidFill>
                <a:latin typeface="PingFang TC"/>
                <a:ea typeface="PingFang TC"/>
                <a:cs typeface="PingFang TC"/>
              </a:rPr>
              <a:t>客戶自由輸入後，先判斷問題類型、目前狀態、缺少資料、是否需要轉真人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CB10DF-1CAF-4DA0-BE54-3CB6F421C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67025"/>
            <a:ext cx="10477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42D"/>
          </a:solidFill>
          <a:ln xmlns:a="http://schemas.openxmlformats.org/drawingml/2006/main" w="9525">
            <a:solidFill>
              <a:srgbClr val="2D3E4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923080-D3AD-4574-B58D-8F41BEB07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43225"/>
            <a:ext cx="2324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CE4E8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DCE4E8"/>
                </a:solidFill>
                <a:latin typeface="PingFang TC"/>
                <a:ea typeface="PingFang TC"/>
                <a:cs typeface="PingFang TC"/>
              </a:rPr>
              <a:t>連接既有目的地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C16539-90CD-4FAA-807B-7CDAFF157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867025"/>
            <a:ext cx="95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E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5D0917-AA0F-4FFC-8401-0223B2B4B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943225"/>
            <a:ext cx="7772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CE4E8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DCE4E8"/>
                </a:solidFill>
                <a:latin typeface="PingFang TC"/>
                <a:ea typeface="PingFang TC"/>
                <a:cs typeface="PingFang TC"/>
              </a:rPr>
              <a:t>判斷結果要能送到 LiveChat、Telegram 平台 topic、後台查詢、case state 或真人入口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74C8B0-C94F-4DC9-BA33-49D5588DA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76625"/>
            <a:ext cx="10477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B35"/>
          </a:solidFill>
          <a:ln xmlns:a="http://schemas.openxmlformats.org/drawingml/2006/main" w="9525">
            <a:solidFill>
              <a:srgbClr val="2D3E4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15A1EE-18A6-44B5-A11C-4150B6686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52825"/>
            <a:ext cx="2324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CE4E8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DCE4E8"/>
                </a:solidFill>
                <a:latin typeface="PingFang TC"/>
                <a:ea typeface="PingFang TC"/>
                <a:cs typeface="PingFang TC"/>
              </a:rPr>
              <a:t>遵守客服手冊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5987403-EC0D-46DD-A87B-E52AB3B8E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476625"/>
            <a:ext cx="95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E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2B41B64-BBC2-4F0A-9E21-C84FA796B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552825"/>
            <a:ext cx="7772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CE4E8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DCE4E8"/>
                </a:solidFill>
                <a:latin typeface="PingFang TC"/>
                <a:ea typeface="PingFang TC"/>
                <a:cs typeface="PingFang TC"/>
              </a:rPr>
              <a:t>金流與帳戶狀態只能來自後台、TG 回覆、已驗證 state 或真人，不由模型自行判定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D4EB71A-AD2B-4EB8-98A3-7CADF85C5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86225"/>
            <a:ext cx="10477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42D"/>
          </a:solidFill>
          <a:ln xmlns:a="http://schemas.openxmlformats.org/drawingml/2006/main" w="9525">
            <a:solidFill>
              <a:srgbClr val="2D3E49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32EC05E-4CCC-405C-8CE8-E488FF53F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62425"/>
            <a:ext cx="2324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CE4E8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DCE4E8"/>
                </a:solidFill>
                <a:latin typeface="PingFang TC"/>
                <a:ea typeface="PingFang TC"/>
                <a:cs typeface="PingFang TC"/>
              </a:rPr>
              <a:t>降低固定問答感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639F249-DDD8-40D0-A803-922E0A998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086225"/>
            <a:ext cx="95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E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C6E4BBD-4D29-41D6-A930-9F42DAA7E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162425"/>
            <a:ext cx="7772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CE4E8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DCE4E8"/>
                </a:solidFill>
                <a:latin typeface="PingFang TC"/>
                <a:ea typeface="PingFang TC"/>
                <a:cs typeface="PingFang TC"/>
              </a:rPr>
              <a:t>回覆要更自然、少重複問問題，但不能改變事實、承諾結果或跳過必要查證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6BD872C-E9FB-4E8E-A0E8-5BC7DFB47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95825"/>
            <a:ext cx="10477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B35"/>
          </a:solidFill>
          <a:ln xmlns:a="http://schemas.openxmlformats.org/drawingml/2006/main" w="9525">
            <a:solidFill>
              <a:srgbClr val="2D3E49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6B0CDE6-FF7A-4F44-9DF9-909901B41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72025"/>
            <a:ext cx="2324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CE4E8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DCE4E8"/>
                </a:solidFill>
                <a:latin typeface="PingFang TC"/>
                <a:ea typeface="PingFang TC"/>
                <a:cs typeface="PingFang TC"/>
              </a:rPr>
              <a:t>用案例驗證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B36A2FD-190C-401D-8500-92F852068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695825"/>
            <a:ext cx="95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E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B74027F-B49C-4B5B-A524-4932D2AEB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772025"/>
            <a:ext cx="7772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CE4E8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DCE4E8"/>
                </a:solidFill>
                <a:latin typeface="PingFang TC"/>
                <a:ea typeface="PingFang TC"/>
                <a:cs typeface="PingFang TC"/>
              </a:rPr>
              <a:t>用歷史對話 replay 存款、提款、流水、等待、補資料、轉真人，確認新判斷不走錯路</a:t>
            </a:r>
          </a:p>
        </p:txBody>
      </p:sp>
    </p:spTree>
    <p:extLst>
      <p:ext uri="{BB962C8B-B14F-4D97-AF65-F5344CB8AC3E}">
        <p14:creationId xmlns:p14="http://schemas.microsoft.com/office/powerpoint/2010/main" val="2002794482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930FFB3-C66F-420C-9011-5F9EA83E6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016EBF-97EF-4467-A16F-2F9B58E1B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95C4A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D95C4A"/>
                </a:solidFill>
                <a:latin typeface="PingFang TC"/>
                <a:ea typeface="PingFang TC"/>
                <a:cs typeface="PingFang TC"/>
              </a:rPr>
              <a:t>DELIVERY PHASES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F5BEFF-F9F2-4BE0-B27D-8B781E41E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8650"/>
            <a:ext cx="10096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2550" b="1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分階段範圍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D25B1D-0254-454D-A362-FACC10C52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75AA3A-2D08-467A-87E6-13BB6605E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37C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6737C"/>
                </a:solidFill>
                <a:latin typeface="PingFang TC"/>
                <a:ea typeface="PingFang TC"/>
                <a:cs typeface="PingFang TC"/>
              </a:rPr>
              <a:t>客服機器人流程與路由總覽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0EB650-D70A-4136-8107-DE999EB19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37C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6737C"/>
                </a:solidFill>
                <a:latin typeface="PingFang TC"/>
                <a:ea typeface="PingFang TC"/>
                <a:cs typeface="PingFang TC"/>
              </a:rPr>
              <a:t>20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4DD612-CCF7-40D7-A2DF-5D08AE7B7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18097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D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BA102C-6042-4286-9708-ADD84C0DC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14550"/>
            <a:ext cx="15811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Phase 1</a:t>
            </a:r>
          </a:p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路由規格化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B8BE5C-01A7-4D62-A53A-AAA7222E2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305050"/>
            <a:ext cx="38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66737C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66737C"/>
                </a:solidFill>
                <a:latin typeface="PingFang TC"/>
                <a:ea typeface="PingFang TC"/>
                <a:cs typeface="PingFang TC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AC2713-0DA3-4A09-BFC4-E9873516C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00250"/>
            <a:ext cx="18097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9B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8AEBAB-6735-4EB3-8B14-74745B003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114550"/>
            <a:ext cx="15811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Phase 2</a:t>
            </a:r>
          </a:p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智能分類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0BB1DE-37B7-4BA9-959F-5343FF89C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305050"/>
            <a:ext cx="38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66737C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66737C"/>
                </a:solidFill>
                <a:latin typeface="PingFang TC"/>
                <a:ea typeface="PingFang TC"/>
                <a:cs typeface="PingFang TC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B9D14E-D7CE-4993-BA17-238955BD0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000250"/>
            <a:ext cx="18097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A9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17B68E-3A49-4E93-9B47-4B7CAAA15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14550"/>
            <a:ext cx="15811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Phase 3</a:t>
            </a:r>
          </a:p>
          <a:p xmlns:a="http://schemas.openxmlformats.org/drawingml/2006/main">
            <a:pPr algn="ctr">
              <a:defRPr sz="1275" b="1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自然回覆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E6907D-8D48-4688-8E5B-5CD34924A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305050"/>
            <a:ext cx="38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66737C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66737C"/>
                </a:solidFill>
                <a:latin typeface="PingFang TC"/>
                <a:ea typeface="PingFang TC"/>
                <a:cs typeface="PingFang TC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44E63C-A338-40CA-962A-70C07379D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000250"/>
            <a:ext cx="18097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C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F2AB75-6F22-427E-9C2C-B6E79283A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114550"/>
            <a:ext cx="15811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Phase 4</a:t>
            </a:r>
          </a:p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評估與監控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80DA45-D22E-450E-A842-76F949D27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524250"/>
            <a:ext cx="9715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2C"/>
          </a:solidFill>
          <a:ln xmlns:a="http://schemas.openxmlformats.org/drawingml/2006/main" w="9525">
            <a:solidFill>
              <a:srgbClr val="17232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8D2EC0-8786-4E24-B12B-FD8169BCD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609975"/>
            <a:ext cx="1752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7F4ED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F7F4ED"/>
                </a:solidFill>
                <a:latin typeface="PingFang TC"/>
                <a:ea typeface="PingFang TC"/>
                <a:cs typeface="PingFang TC"/>
              </a:rPr>
              <a:t>階段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3F2D5B-8F75-46FA-87DA-14C8D2F4D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609975"/>
            <a:ext cx="7581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7F4ED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F7F4ED"/>
                </a:solidFill>
                <a:latin typeface="PingFang TC"/>
                <a:ea typeface="PingFang TC"/>
                <a:cs typeface="PingFang TC"/>
              </a:rPr>
              <a:t>交付重點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11BD2C-8544-4253-BA0D-33EE300EA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886200"/>
            <a:ext cx="97155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CAB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B70A2D-D09B-4F46-AF79-3534958D6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962400"/>
            <a:ext cx="17526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Phase 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B43D20-300F-43C8-B7E7-85604A2D5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886200"/>
            <a:ext cx="952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67268EF-6A9F-4861-AB00-A0208A904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962400"/>
            <a:ext cx="75819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現行 route、state、destination、handoff 條件文件化並補測試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855AB1F-65A6-4E0E-9E33-C81190FED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352925"/>
            <a:ext cx="97155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9525">
            <a:solidFill>
              <a:srgbClr val="D4CAB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A24BCB1-1BF2-4694-89ED-77A3F1532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29125"/>
            <a:ext cx="17526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Phase 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5A05B12-CBE8-4A39-9DB2-14E724026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352925"/>
            <a:ext cx="952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B9E6F3C-C641-4CD7-B870-70C1B413E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429125"/>
            <a:ext cx="75819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LLM 判斷客戶訊息所屬路徑，低信心或高風險轉真人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6CF4433-677E-441D-8FBA-09B8461D2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19650"/>
            <a:ext cx="97155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CAB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C65AAAD-C0B1-48C1-BC27-53DB45881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895850"/>
            <a:ext cx="17526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Phase 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5ED12B4-F00E-4012-A89A-337D6FC2B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819650"/>
            <a:ext cx="952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57DE02D-14A1-4DE4-943E-E6F47312E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895850"/>
            <a:ext cx="75819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手冊與案例檢索 + 生成回覆，語氣更自然，但工具結果與規則先行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9F6CFA7-A100-48A2-A0F8-9DF908AA5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86375"/>
            <a:ext cx="97155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9525">
            <a:solidFill>
              <a:srgbClr val="D4CAB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F47AA0C-05D1-481F-96BF-9E1793275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362575"/>
            <a:ext cx="17526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Phase 4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3490154-E8DF-4A8B-B8EB-64CEF3A68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5286375"/>
            <a:ext cx="952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2445069-2BD5-4455-922F-196081368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362575"/>
            <a:ext cx="75819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以 replay、人工覆核、錯誤案例回收持續調整分類與回覆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B60712A-1E95-4748-B223-90D28004A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143625"/>
            <a:ext cx="914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D95C4A"/>
                </a:solidFill>
                <a:latin typeface="PingFang TC"/>
                <a:ea typeface="PingFang TC"/>
                <a:cs typeface="PingFang TC"/>
              </a:defRPr>
            </a:pPr>
            <a:r>
              <a:rPr sz="1575" b="1">
                <a:solidFill>
                  <a:srgbClr val="D95C4A"/>
                </a:solidFill>
                <a:latin typeface="PingFang TC"/>
                <a:ea typeface="PingFang TC"/>
                <a:cs typeface="PingFang TC"/>
              </a:rPr>
              <a:t>核心方向：先把路徑變成穩定合約，再讓理解與回覆逐步智能化。</a:t>
            </a:r>
          </a:p>
        </p:txBody>
      </p:sp>
    </p:spTree>
    <p:extLst>
      <p:ext uri="{BB962C8B-B14F-4D97-AF65-F5344CB8AC3E}">
        <p14:creationId xmlns:p14="http://schemas.microsoft.com/office/powerpoint/2010/main" val="150592286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2026-06-12T05:44:16.8830000Z</dcterms:created>
  <dcterms:modified xsi:type="dcterms:W3CDTF">2026-06-12T05:44:16.8830000Z</dcterms:modified>
</coreProperties>
</file>