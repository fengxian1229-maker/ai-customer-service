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cf6749518f4240" /><Relationship Type="http://schemas.openxmlformats.org/officeDocument/2006/relationships/extended-properties" Target="/docProps/app.xml" Id="R33bd7a8fdf664b80" /><Relationship Type="http://schemas.openxmlformats.org/officeDocument/2006/relationships/officeDocument" Target="/ppt/presentation.xml" Id="Rcae94a37fe9045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f86db2f31742d7"/>
  </p:sldMasterIdLst>
  <p:notesMasterIdLst>
    <p:notesMasterId xmlns:r="http://schemas.openxmlformats.org/officeDocument/2006/relationships" r:id="R69707ad14ae84775"/>
  </p:notesMasterIdLst>
  <p:sldIdLst>
    <p:sldId xmlns:r="http://schemas.openxmlformats.org/officeDocument/2006/relationships" id="256" r:id="R85130c189e7643b5"/>
    <p:sldId xmlns:r="http://schemas.openxmlformats.org/officeDocument/2006/relationships" id="257" r:id="Rfd675836b5704d8e"/>
    <p:sldId xmlns:r="http://schemas.openxmlformats.org/officeDocument/2006/relationships" id="258" r:id="Rad20e3b5d3ee4657"/>
    <p:sldId xmlns:r="http://schemas.openxmlformats.org/officeDocument/2006/relationships" id="259" r:id="R91d0f63b19a54824"/>
    <p:sldId xmlns:r="http://schemas.openxmlformats.org/officeDocument/2006/relationships" id="260" r:id="Rfef5033eb33640ff"/>
    <p:sldId xmlns:r="http://schemas.openxmlformats.org/officeDocument/2006/relationships" id="261" r:id="R0c4b979fa8d94fdb"/>
    <p:sldId xmlns:r="http://schemas.openxmlformats.org/officeDocument/2006/relationships" id="262" r:id="Rcf03b65f30ee4a2b"/>
    <p:sldId xmlns:r="http://schemas.openxmlformats.org/officeDocument/2006/relationships" id="263" r:id="R89bca7422132448b"/>
    <p:sldId xmlns:r="http://schemas.openxmlformats.org/officeDocument/2006/relationships" id="264" r:id="R7cb36102017c4fc5"/>
    <p:sldId xmlns:r="http://schemas.openxmlformats.org/officeDocument/2006/relationships" id="265" r:id="R028e99a81e5f4451"/>
    <p:sldId xmlns:r="http://schemas.openxmlformats.org/officeDocument/2006/relationships" id="266" r:id="R8b7d4532edb740be"/>
    <p:sldId xmlns:r="http://schemas.openxmlformats.org/officeDocument/2006/relationships" id="267" r:id="Rb8b54fe547b34aa6"/>
    <p:sldId xmlns:r="http://schemas.openxmlformats.org/officeDocument/2006/relationships" id="268" r:id="R5846487186c04d3a"/>
    <p:sldId xmlns:r="http://schemas.openxmlformats.org/officeDocument/2006/relationships" id="269" r:id="Rec96a57fd4874d08"/>
    <p:sldId xmlns:r="http://schemas.openxmlformats.org/officeDocument/2006/relationships" id="270" r:id="R9424d841a9b24f51"/>
    <p:sldId xmlns:r="http://schemas.openxmlformats.org/officeDocument/2006/relationships" id="271" r:id="R4f350e3173134e55"/>
    <p:sldId xmlns:r="http://schemas.openxmlformats.org/officeDocument/2006/relationships" id="272" r:id="Rec7ae8af30544c6b"/>
    <p:sldId xmlns:r="http://schemas.openxmlformats.org/officeDocument/2006/relationships" id="273" r:id="R763069d29e964252"/>
    <p:sldId xmlns:r="http://schemas.openxmlformats.org/officeDocument/2006/relationships" id="274" r:id="R4629b27b443747bf"/>
    <p:sldId xmlns:r="http://schemas.openxmlformats.org/officeDocument/2006/relationships" id="275" r:id="Rccbdd2f9880142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2bb36e6ee04904" /><Relationship Type="http://schemas.openxmlformats.org/officeDocument/2006/relationships/slideMaster" Target="/ppt/slideMasters/slideMaster1.xml" Id="R69f86db2f31742d7" /><Relationship Type="http://schemas.openxmlformats.org/officeDocument/2006/relationships/notesMaster" Target="/ppt/notesMasters/notesMaster1.xml" Id="R69707ad14ae84775" /><Relationship Type="http://schemas.openxmlformats.org/officeDocument/2006/relationships/presProps" Target="/ppt/presProps.xml" Id="Rb7854326d9e84e87" /><Relationship Type="http://schemas.openxmlformats.org/officeDocument/2006/relationships/viewProps" Target="/ppt/viewProps.xml" Id="Rf140bb9d426b4d11" /><Relationship Type="http://schemas.openxmlformats.org/officeDocument/2006/relationships/tableStyles" Target="/ppt/tableStyles.xml" Id="Rc0783d22bbc94140" /><Relationship Type="http://schemas.openxmlformats.org/officeDocument/2006/relationships/slide" Target="/ppt/slides/slide1.xml" Id="R85130c189e7643b5" /><Relationship Type="http://schemas.openxmlformats.org/officeDocument/2006/relationships/slide" Target="/ppt/slides/slide2.xml" Id="Rfd675836b5704d8e" /><Relationship Type="http://schemas.openxmlformats.org/officeDocument/2006/relationships/slide" Target="/ppt/slides/slide3.xml" Id="Rad20e3b5d3ee4657" /><Relationship Type="http://schemas.openxmlformats.org/officeDocument/2006/relationships/slide" Target="/ppt/slides/slide4.xml" Id="R91d0f63b19a54824" /><Relationship Type="http://schemas.openxmlformats.org/officeDocument/2006/relationships/slide" Target="/ppt/slides/slide5.xml" Id="Rfef5033eb33640ff" /><Relationship Type="http://schemas.openxmlformats.org/officeDocument/2006/relationships/slide" Target="/ppt/slides/slide6.xml" Id="R0c4b979fa8d94fdb" /><Relationship Type="http://schemas.openxmlformats.org/officeDocument/2006/relationships/slide" Target="/ppt/slides/slide7.xml" Id="Rcf03b65f30ee4a2b" /><Relationship Type="http://schemas.openxmlformats.org/officeDocument/2006/relationships/slide" Target="/ppt/slides/slide8.xml" Id="R89bca7422132448b" /><Relationship Type="http://schemas.openxmlformats.org/officeDocument/2006/relationships/slide" Target="/ppt/slides/slide9.xml" Id="R7cb36102017c4fc5" /><Relationship Type="http://schemas.openxmlformats.org/officeDocument/2006/relationships/slide" Target="/ppt/slides/slide10.xml" Id="R028e99a81e5f4451" /><Relationship Type="http://schemas.openxmlformats.org/officeDocument/2006/relationships/slide" Target="/ppt/slides/slide11.xml" Id="R8b7d4532edb740be" /><Relationship Type="http://schemas.openxmlformats.org/officeDocument/2006/relationships/slide" Target="/ppt/slides/slide12.xml" Id="Rb8b54fe547b34aa6" /><Relationship Type="http://schemas.openxmlformats.org/officeDocument/2006/relationships/slide" Target="/ppt/slides/slide13.xml" Id="R5846487186c04d3a" /><Relationship Type="http://schemas.openxmlformats.org/officeDocument/2006/relationships/slide" Target="/ppt/slides/slide14.xml" Id="Rec96a57fd4874d08" /><Relationship Type="http://schemas.openxmlformats.org/officeDocument/2006/relationships/slide" Target="/ppt/slides/slide15.xml" Id="R9424d841a9b24f51" /><Relationship Type="http://schemas.openxmlformats.org/officeDocument/2006/relationships/slide" Target="/ppt/slides/slide16.xml" Id="R4f350e3173134e55" /><Relationship Type="http://schemas.openxmlformats.org/officeDocument/2006/relationships/slide" Target="/ppt/slides/slide17.xml" Id="Rec7ae8af30544c6b" /><Relationship Type="http://schemas.openxmlformats.org/officeDocument/2006/relationships/slide" Target="/ppt/slides/slide18.xml" Id="R763069d29e964252" /><Relationship Type="http://schemas.openxmlformats.org/officeDocument/2006/relationships/slide" Target="/ppt/slides/slide19.xml" Id="R4629b27b443747bf" /><Relationship Type="http://schemas.openxmlformats.org/officeDocument/2006/relationships/slide" Target="/ppt/slides/slide20.xml" Id="Rccbdd2f9880142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783103666f44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7d7afab9f452c" /><Relationship Type="http://schemas.openxmlformats.org/officeDocument/2006/relationships/notesMaster" Target="/ppt/notesMasters/notesMaster1.xml" Id="R38ec0c7231784e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facabece634b0e" /><Relationship Type="http://schemas.openxmlformats.org/officeDocument/2006/relationships/notesMaster" Target="/ppt/notesMasters/notesMaster1.xml" Id="Re6909762b52548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5e1d80b34441ea" /><Relationship Type="http://schemas.openxmlformats.org/officeDocument/2006/relationships/notesMaster" Target="/ppt/notesMasters/notesMaster1.xml" Id="Rc5e3b05503154b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9ecc4be1d342cc" /><Relationship Type="http://schemas.openxmlformats.org/officeDocument/2006/relationships/notesMaster" Target="/ppt/notesMasters/notesMaster1.xml" Id="R675cff8bdaf3498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87b627de694489" /><Relationship Type="http://schemas.openxmlformats.org/officeDocument/2006/relationships/notesMaster" Target="/ppt/notesMasters/notesMaster1.xml" Id="R3578038ef2a445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1fd42da1134224" /><Relationship Type="http://schemas.openxmlformats.org/officeDocument/2006/relationships/notesMaster" Target="/ppt/notesMasters/notesMaster1.xml" Id="Re19b49a745cd48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9218b46a1244fe" /><Relationship Type="http://schemas.openxmlformats.org/officeDocument/2006/relationships/notesMaster" Target="/ppt/notesMasters/notesMaster1.xml" Id="R42a380e6f6434a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d84bfc59ad4dd8" /><Relationship Type="http://schemas.openxmlformats.org/officeDocument/2006/relationships/notesMaster" Target="/ppt/notesMasters/notesMaster1.xml" Id="R29219c36e3c647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f069bcfcf74640" /><Relationship Type="http://schemas.openxmlformats.org/officeDocument/2006/relationships/notesMaster" Target="/ppt/notesMasters/notesMaster1.xml" Id="R714c6b3d722243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bb72b5f3c34752" /><Relationship Type="http://schemas.openxmlformats.org/officeDocument/2006/relationships/notesMaster" Target="/ppt/notesMasters/notesMaster1.xml" Id="Raca38dc1b06e44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5995d264944a37" /><Relationship Type="http://schemas.openxmlformats.org/officeDocument/2006/relationships/notesMaster" Target="/ppt/notesMasters/notesMaster1.xml" Id="Rebc744c149af40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d76c2fc0814444" /><Relationship Type="http://schemas.openxmlformats.org/officeDocument/2006/relationships/notesMaster" Target="/ppt/notesMasters/notesMaster1.xml" Id="Raf0e1e8de0e349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07ba45bd874b91" /><Relationship Type="http://schemas.openxmlformats.org/officeDocument/2006/relationships/notesMaster" Target="/ppt/notesMasters/notesMaster1.xml" Id="Rf3afb63f801145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659d00c0694be0" /><Relationship Type="http://schemas.openxmlformats.org/officeDocument/2006/relationships/notesMaster" Target="/ppt/notesMasters/notesMaster1.xml" Id="R521aba74de0e4a9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99be05114d47e7" /><Relationship Type="http://schemas.openxmlformats.org/officeDocument/2006/relationships/notesMaster" Target="/ppt/notesMasters/notesMaster1.xml" Id="Re6bc1ae4613040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20527ee7ce4142" /><Relationship Type="http://schemas.openxmlformats.org/officeDocument/2006/relationships/notesMaster" Target="/ppt/notesMasters/notesMaster1.xml" Id="R756146b4cfd04ad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781663af5074ae2" /><Relationship Type="http://schemas.openxmlformats.org/officeDocument/2006/relationships/notesMaster" Target="/ppt/notesMasters/notesMaster1.xml" Id="Rf340a4a2e25b4d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8b332579564567" /><Relationship Type="http://schemas.openxmlformats.org/officeDocument/2006/relationships/notesMaster" Target="/ppt/notesMasters/notesMaster1.xml" Id="Rfe284b9c1bb44f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fe3685a5a104986" /><Relationship Type="http://schemas.openxmlformats.org/officeDocument/2006/relationships/notesMaster" Target="/ppt/notesMasters/notesMaster1.xml" Id="R25468535c7b64c1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3dd3ade7624549" /><Relationship Type="http://schemas.openxmlformats.org/officeDocument/2006/relationships/notesMaster" Target="/ppt/notesMasters/notesMaster1.xml" Id="R41e0a06ef31047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20713ef77543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90311de6524657" /><Relationship Type="http://schemas.openxmlformats.org/officeDocument/2006/relationships/slideLayout" Target="/ppt/slideLayouts/slideLayout1.xml" Id="Re0398d3554ea46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398d3554ea46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402c6816d4694" /><Relationship Type="http://schemas.openxmlformats.org/officeDocument/2006/relationships/notesSlide" Target="/ppt/notesSlides/notesSlide1.xml" Id="R7b4696a6752147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5697946c7484a" /><Relationship Type="http://schemas.openxmlformats.org/officeDocument/2006/relationships/notesSlide" Target="/ppt/notesSlides/notesSlide2.xml" Id="R209d80bc281940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9906c1baa41d3" /><Relationship Type="http://schemas.openxmlformats.org/officeDocument/2006/relationships/notesSlide" Target="/ppt/notesSlides/notesSlide3.xml" Id="R0f10e8fb6dd84c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26ee4f43f4c24" /><Relationship Type="http://schemas.openxmlformats.org/officeDocument/2006/relationships/notesSlide" Target="/ppt/notesSlides/notesSlide4.xml" Id="R1f080d468f1e4c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ef8b5448d47f0" /><Relationship Type="http://schemas.openxmlformats.org/officeDocument/2006/relationships/notesSlide" Target="/ppt/notesSlides/notesSlide5.xml" Id="R9a935ab1362f4b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6660a798e4bea" /><Relationship Type="http://schemas.openxmlformats.org/officeDocument/2006/relationships/notesSlide" Target="/ppt/notesSlides/notesSlide6.xml" Id="R50051393725b4b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9e07fe3534537" /><Relationship Type="http://schemas.openxmlformats.org/officeDocument/2006/relationships/notesSlide" Target="/ppt/notesSlides/notesSlide7.xml" Id="R4017d04b1a8b47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4e04708e5443d0" /><Relationship Type="http://schemas.openxmlformats.org/officeDocument/2006/relationships/notesSlide" Target="/ppt/notesSlides/notesSlide8.xml" Id="Rc0297512ff3643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fc9f0aabc47c1" /><Relationship Type="http://schemas.openxmlformats.org/officeDocument/2006/relationships/notesSlide" Target="/ppt/notesSlides/notesSlide9.xml" Id="Rabec14b8193b49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2df7d4df24917" /><Relationship Type="http://schemas.openxmlformats.org/officeDocument/2006/relationships/notesSlide" Target="/ppt/notesSlides/notesSlide10.xml" Id="R6b6bd293e7f44a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be6ad81134d85" /><Relationship Type="http://schemas.openxmlformats.org/officeDocument/2006/relationships/notesSlide" Target="/ppt/notesSlides/notesSlide11.xml" Id="R217cda51598f41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afdef2eb84fe0" /><Relationship Type="http://schemas.openxmlformats.org/officeDocument/2006/relationships/notesSlide" Target="/ppt/notesSlides/notesSlide12.xml" Id="R1574e8d417324e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78ce0a9a94b99" /><Relationship Type="http://schemas.openxmlformats.org/officeDocument/2006/relationships/notesSlide" Target="/ppt/notesSlides/notesSlide13.xml" Id="Rbbebe435500f4b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de26868634687" /><Relationship Type="http://schemas.openxmlformats.org/officeDocument/2006/relationships/notesSlide" Target="/ppt/notesSlides/notesSlide14.xml" Id="R9f19b3448b634a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e697cf3c94505" /><Relationship Type="http://schemas.openxmlformats.org/officeDocument/2006/relationships/notesSlide" Target="/ppt/notesSlides/notesSlide15.xml" Id="R8a81cce1af4945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9d94e86d14b3b" /><Relationship Type="http://schemas.openxmlformats.org/officeDocument/2006/relationships/notesSlide" Target="/ppt/notesSlides/notesSlide16.xml" Id="R478376d49b9c44e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47df4e8ba4980" /><Relationship Type="http://schemas.openxmlformats.org/officeDocument/2006/relationships/notesSlide" Target="/ppt/notesSlides/notesSlide17.xml" Id="R5eceec79565e43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db58ff7684d0b" /><Relationship Type="http://schemas.openxmlformats.org/officeDocument/2006/relationships/notesSlide" Target="/ppt/notesSlides/notesSlide18.xml" Id="R7829fdbe3b884e7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cdb035a374104" /><Relationship Type="http://schemas.openxmlformats.org/officeDocument/2006/relationships/notesSlide" Target="/ppt/notesSlides/notesSlide19.xml" Id="R4c633fb4035f46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458676dcf4d9e" /><Relationship Type="http://schemas.openxmlformats.org/officeDocument/2006/relationships/notesSlide" Target="/ppt/notesSlides/notesSlide20.xml" Id="R759d0fac64a746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DE2F2F-BB2A-46B6-8D27-12BC1FEB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BAFC2-9CA3-4093-AAE6-B416D98A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CUSTOMER SERVICE BOT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D07B8-1114-4A8A-9BD0-A70F1DA3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838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37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客服機器人工程交接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5DBF3-AACB-44F1-B5F4-14129A17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FD9DE"/>
                </a:solidFill>
                <a:latin typeface="PingFang TC"/>
                <a:ea typeface="PingFang TC"/>
                <a:cs typeface="PingFang TC"/>
              </a:defRPr>
            </a:pPr>
            <a:r>
              <a:rPr sz="1875" b="0">
                <a:solidFill>
                  <a:srgbClr val="CFD9DE"/>
                </a:solidFill>
                <a:latin typeface="PingFang TC"/>
                <a:ea typeface="PingFang TC"/>
                <a:cs typeface="PingFang TC"/>
              </a:rPr>
              <a:t>SOP 版：現況、功能原理、各情境處理規則、目標與後續需求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0F6AA-FA5C-4E52-88C3-4EC64970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EA7F0-012E-4E5A-9A7E-DF2E2E95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目前做到哪裡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49050-DDFF-4CA6-81C6-59F7BEB5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28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2CF27-7949-46D2-97EA-7F89C220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95625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遇到各情況怎麼跑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BE191-54B3-4672-A304-07769BE43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CBF0C-77A8-4109-A89B-C02C93B3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95625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最終希望變成什麼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CE5C5-F93A-475C-8DA5-B080DFAB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67F9D-6E89-4DDA-B8F3-F1D3439C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95625"/>
            <a:ext cx="2343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工程團隊接著做什麼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A09FD2-F68D-4E85-BEB4-5DFCCD14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5765B-5F83-4380-A51D-E05D8B43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291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這份不是產品宣傳；它是讓第一次接手的人不用通靈，可以照 SOP、狀態與風險邊界理解目前機器人。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02D8D-E066-4AA5-9CB6-95CBB22B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84BE1-ABBA-4DBB-B4E5-CFCAC0FF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8AB60-3326-4879-9500-C8DC3025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585884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FFE50D-6201-429A-A999-5B4F20D2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FF142-C934-447D-9A13-C5D56832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SOURCE OF TRUTH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BB694-3BA6-4C5A-BD76-8084B439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先分清楚：現行主線、舊 SOP、實驗方向不是同一件事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4EA5C-90A7-48EB-A463-67C835B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677F7-FA8E-46A1-9F82-59CAFB8F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C5406-9823-45CC-93E3-E443D872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FAC27-6D83-496A-A23A-DE868D87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333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0BF56-D886-47D8-9C82-9089F7F7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2E0DA-CBE8-4BF0-A6EE-FB497A42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bot66tornado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6701CA-901A-45F4-AE4A-2C308F40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914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rPr>
              <a:t>目前交接主線。實際狀態機、LiveChat/TG/後台 adapter、測試與啟停工具都在這裡。簡報 SOP 以它為主。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C3DD4-3469-4307-BF76-501C7198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2695E-3771-4C57-84A9-C9B7AE7D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3487A-8369-4551-A2AB-5DEE1861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812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workspace-autoreply-clean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50532-DB21-4B63-82A8-9E487452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24100"/>
            <a:ext cx="2914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rPr>
              <a:t>上一代來源。提供舊 SOP、文案、圖片、歷史邏輯；但部分規則和現行 bot66tornado 已不同。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7D59E-1844-4B9D-809A-903FCE5D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A1E19-E722-429B-B889-B897BC75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71320A-CAD8-4988-A32D-F1306C29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812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workspace-autoreply-rag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DAA43A-52B6-4FB3-A101-EE348E7B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24100"/>
            <a:ext cx="29146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rPr>
              <a:t>RAG/LLM 實驗方向。可作未來參考，不是目前正式交接可直接上線版本。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734FCD-48CA-466A-A17D-4E80BBF9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104394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DB0E6-E0CA-4FC6-B1ED-598780E6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接手原則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A0825F-D147-415A-8497-B10BF0EF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工程團隊要先確認正式環境到底跑哪個資料夾、哪個 process、哪份 .env；文件只能輔助，現行 code path 與 runtime state 才是準則。</a:t>
            </a:r>
          </a:p>
        </p:txBody>
      </p:sp>
    </p:spTree>
    <p:extLst>
      <p:ext uri="{BB962C8B-B14F-4D97-AF65-F5344CB8AC3E}">
        <p14:creationId xmlns:p14="http://schemas.microsoft.com/office/powerpoint/2010/main" val="20706692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4EA562-F918-47C6-A1A0-F34DA7AD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BB0AE-C435-47E5-936B-8BA1AC32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SYSTEM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FE090-A5F2-4FDF-A070-636CCC7B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目前機器人是受控 SOP 狀態機，不是自由發揮的 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216B3-18C8-47F4-8B75-2975AFFC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F56F5-9058-4430-9696-AFC6B929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AE4B7-4E6D-4E30-BCE4-A2A04EE8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37164-1E6B-4E75-94BA-419F70FF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7CE1D-646B-4297-98E4-DDE9EC28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152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LiveChat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客戶事件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F848E-F5B3-4B9F-A293-368D68BA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67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3A1B2-9831-4A38-BB16-ECE785C3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1E7CA-FDBD-4E44-A5EE-065F88AE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95550"/>
            <a:ext cx="1152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Poller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讀事件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C1FBA-3EC5-4D5D-9DA9-14A0592D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3E3109-7D4E-439C-AFB8-3562664B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C37A5-39FC-4193-8279-E536D9E9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95550"/>
            <a:ext cx="1152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State Machine</a:t>
            </a:r>
          </a:p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判斷下一步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EE115-1377-464F-92D4-44BB2051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67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A1C42-EFF4-4467-8089-7E627B21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D6CAEE-7B29-4B34-88F9-5C090D6C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95550"/>
            <a:ext cx="1152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Command Runner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轉成動作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B0B4F0-CB8A-44C1-9C3B-52858221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8F32F-5B17-4E4E-94B5-3F3283EA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D4C57-0D20-4AAD-88B6-2751BFDC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95550"/>
            <a:ext cx="1152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Adapters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LC/TG/後台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F97B93-6CF8-41EA-A134-2BBE3DCE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828C9-1E0B-48F5-A361-222DD09E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381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C35A6C-8729-4B56-A25E-23061761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95550"/>
            <a:ext cx="11525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Case Store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狀態/稽核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8A1A7-3A86-4957-884F-9F937335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關鍵：LLM 不能自己決定金流結果。客戶事實來自後台 API、Telegram 後台、人員回覆或已驗證 state。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2578E1-012A-4F18-9FE8-D1D71D4C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33950"/>
            <a:ext cx="971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rPr>
              <a:t>目前少量 LLM/processor 主要用於後台回覆翻譯與客服化，還會被 deterministic fact-check 擋掉新增金額、reference、URL 或錯把等待中改成已完成。</a:t>
            </a:r>
          </a:p>
        </p:txBody>
      </p:sp>
    </p:spTree>
    <p:extLst>
      <p:ext uri="{BB962C8B-B14F-4D97-AF65-F5344CB8AC3E}">
        <p14:creationId xmlns:p14="http://schemas.microsoft.com/office/powerpoint/2010/main" val="18016622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426B22-E88F-4112-A84E-DDD7B8C3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6E29C-0813-4BDC-9979-522F5E73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CURRENT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6F457-4C0A-43AD-9C74-776544B4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目前功能覆蓋：高頻窄路徑已能走到底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33F61-F9AA-4537-A0F8-FFB00EB0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44D8C-C174-4B5A-BB02-3650C163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6862E-BA03-4A2D-A759-EF4F4AE6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31DE7-794B-4886-8424-11B061FA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1047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C877D-56EA-4F60-A58D-AD24DC16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04975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區塊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9D345-A8EC-4B98-A867-2D96C0F1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04975"/>
            <a:ext cx="7772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現況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27739-503E-4636-B7CC-747937FB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1047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B4DF1-92A3-464B-B70C-BBAAC677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57400"/>
            <a:ext cx="2324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EAC02-ADCF-4034-9C04-9BD6FC69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81200"/>
            <a:ext cx="9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793DD-CD56-4676-B710-ED2DB356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57400"/>
            <a:ext cx="7772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主選單、存款選單、提款選單、其他問題、上一筆案件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A895A-8453-46A8-9B6B-C635A9C9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1047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744075-E53C-4DD4-B5DC-0756669A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38425"/>
            <a:ext cx="2324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金流案件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854DA-7AAE-4C41-BCF4-259AE084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62225"/>
            <a:ext cx="9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F490C-B014-4B60-BF56-821EAF69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38425"/>
            <a:ext cx="7772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存款未到帳、提款未收到；資料齊才送 TG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F2E60-B06F-4042-811E-B43C39A7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047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8AE78-21BA-4956-BB2B-300080A1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2324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後台查詢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886DB-1558-43A4-AAFD-124D72B6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43250"/>
            <a:ext cx="9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4B30F2-C898-4C5E-8D87-D8FAA36F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19450"/>
            <a:ext cx="7772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無法提款/流水查詢由 backend query 處理，不直接送 TG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4C123-1C7E-40AA-8120-82C47451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1047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08EB07-F97E-43AD-BC69-3528551C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2324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客服銜接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F48994-5741-4911-BABC-8DCEFC40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24275"/>
            <a:ext cx="9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CD9AA9-BF23-4697-BDD1-A72FAEEF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00475"/>
            <a:ext cx="7772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TG 主卡、後台回覆處理、LiveChat 回覆、轉真人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462E73-2BBE-44CB-BB63-74A1FDE5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0477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693661-3332-4904-81E7-1606A700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2324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安全維運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CEC3BC-4269-4AE7-ACAD-FCCFABE6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05300"/>
            <a:ext cx="9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8CE964-D249-4F08-9E16-0976E9F9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81500"/>
            <a:ext cx="7772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官方/測試啟停、health/status、poll overlap 防護、state atomic write/audit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EE611-140D-47E1-A1D8-4A1FF109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1047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已驗證：核心測試、route gate、real replay、human-seed replay 通過；batch path review 需與最新規則重新對齊。</a:t>
            </a:r>
          </a:p>
        </p:txBody>
      </p:sp>
    </p:spTree>
    <p:extLst>
      <p:ext uri="{BB962C8B-B14F-4D97-AF65-F5344CB8AC3E}">
        <p14:creationId xmlns:p14="http://schemas.microsoft.com/office/powerpoint/2010/main" val="3436093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EF2B9B-B427-473D-9CC3-180E50A4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EC8C7-9204-4A63-BCA8-005D596F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MASTER SOP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F8352-BC1B-4A4E-8E0A-51DCAFFE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工程師先看這張：客戶情境對應機器人下一步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C6694-CC6B-41B1-8E84-A8159E89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61E091-6AB6-4A8B-94D0-FB4E8B99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B5EDF-D1A5-42C8-AE0B-A80DB649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A72C6-081A-4FA1-8A8E-89F9949E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1104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4B5D6-8F2F-4638-94CB-D8A126D3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客戶情境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C3846-DD53-44FA-9AE4-B8ED82A6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23507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狀態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0DB27-F529-4CDD-A8C1-0BF102FC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270" y="1562100"/>
            <a:ext cx="55549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機器人 SOP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2C401-E5E7-42E3-AA8B-F1CB116C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38325"/>
            <a:ext cx="11049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10228-E337-4748-B3B0-23DA677F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14525"/>
            <a:ext cx="257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存款未到帳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2B8FC-3D13-4403-BBC9-9BFDAA6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383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A9B0A-77C0-4AC1-9BEB-981D8D4F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14525"/>
            <a:ext cx="235077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進 deposit_collect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B5A74-C01F-452A-9B4C-1A5C29E1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18383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46C8E-D970-4D41-A8AB-94583F84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270" y="1914525"/>
            <a:ext cx="55549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問用戶名/電話 + 付款截圖；齊全才送 TG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CC64C-A5FE-426D-9FC3-C310ADBF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11049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05CEF-ED66-47EF-86AA-44161DCD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57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提款未收到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8195E-A975-44E1-A41B-59410D05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BD716-D17B-49FF-93AA-2F3EAD6F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57450"/>
            <a:ext cx="235077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進 withdrawal_collect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A85CD7-CDEE-4708-9382-C2950880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23812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60BDE7-897C-43D1-A475-01C1BD37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270" y="2457450"/>
            <a:ext cx="55549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問用戶名/電話 + 提款截圖；齊全才送 TG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B33DBA-60DF-48A7-B498-B5236ECC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4175"/>
            <a:ext cx="11049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1CE29-94F3-43FA-AB8B-1AB75F40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57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不能提款/流水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67DCAF-7655-46F7-8418-BD386941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241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CBA30F-AECF-4649-9702-F4068CF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0375"/>
            <a:ext cx="235077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進 withdrawal_blocked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FB44C3-29BC-450D-BBAE-32F7D0EC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29241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104715-075C-47E2-B906-98070B8F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270" y="3000375"/>
            <a:ext cx="55549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問身份後查 rollover；查不到或已達標轉真人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2E622F-E38B-44F9-8824-F0036C3D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11049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ADCEE9-26F2-436E-96F4-419F5F1D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257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上一筆案件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1743D3-B1D5-422B-8285-7C16C52E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671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DA5D09-0BB4-481A-999D-401BE4DE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43300"/>
            <a:ext cx="235077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進 pending_reply_collect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F4398E-904D-4F51-8225-035DD7DF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34671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D853B4-C6FA-46A8-A9C7-E8E03122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270" y="3543300"/>
            <a:ext cx="55549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問身份資料，查已存在案件/回覆狀態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5FCA8A-4087-4A94-BC6C-F11903D6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11049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F0AB1C-7381-4D6C-8CB0-D5C364B9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257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忘記密碼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EC0B34-8AFA-400A-ABC7-2FB99D4C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AD1419-B88E-4873-8592-3BAD80AB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86225"/>
            <a:ext cx="235077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進 forgot_password_sop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6FA880-AC4D-4249-9BFC-6B137057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40100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377BFB-7E71-4755-8F3C-66D16187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270" y="4086225"/>
            <a:ext cx="55549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送教學圖文；仍失敗或錯誤截圖轉真人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4572AA-0921-4151-AAA7-A098E419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11049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FD75CE-2046-49E4-B4B8-0C432DA8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57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促銷/退款/辱罵/帳戶高風險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A60747-8ECD-482B-AF15-C1C7C00A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383545-999C-4DE0-97D4-23E64805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29150"/>
            <a:ext cx="235077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human_handoff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0C7B0E-494A-4B81-BEB3-D5D06131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45529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6CA20E-9132-4BFB-8E0A-D0D8CCB2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270" y="4629150"/>
            <a:ext cx="55549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不讓 bot 猜政策或帳戶狀態，直接轉真人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F268B8-AB7D-4326-9739-E46ED55C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60D020-3E38-4D8E-AF23-46C732C4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2571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等後台中補資料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1194A3A-1B75-496A-8329-94852762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958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ED40B8-894E-4CC7-BB44-375169FC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72075"/>
            <a:ext cx="235077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waiting_backend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E957E9-0109-435A-AFC3-253A076A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5020" y="50958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EF4D25-0D9E-4240-85AD-D300C783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270" y="5172075"/>
            <a:ext cx="55549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追加到同一 TG case；不新開案件</a:t>
            </a:r>
          </a:p>
        </p:txBody>
      </p:sp>
    </p:spTree>
    <p:extLst>
      <p:ext uri="{BB962C8B-B14F-4D97-AF65-F5344CB8AC3E}">
        <p14:creationId xmlns:p14="http://schemas.microsoft.com/office/powerpoint/2010/main" val="20712102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4B7BBA-E573-456B-882E-45BC3DEE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0D35E-8494-47AE-AFF2-41E19283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ENTRY / MENU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0DD74-8E24-4E15-9FB6-ECAB29B8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入口規則：自由文字要重判，不是只叫客戶按鈕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9F317-07A1-485B-87C1-09F733AC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4382C-06D9-4839-83F9-F164B99C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FC508-0EA9-47CF-AA65-A69C0508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DAF38-FF7A-404A-B355-D3BB6A35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3B28A-18B3-4E70-A961-24BDB923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2524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EEB88-B075-4D78-8286-D5CC0D1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62100"/>
            <a:ext cx="230695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SOP 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66820-C40D-4F97-AAF1-0981DC27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1562100"/>
            <a:ext cx="54559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工程重點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B3895-1324-435B-8F02-0AAA55A8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450CE2-CDF5-42AD-ACDF-72ABC0E8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2524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新聊天進來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52E19-D2EC-4F61-982A-235F492C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383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21D01-02B7-4F94-836F-65BB1F6E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14525"/>
            <a:ext cx="230695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送主選單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673ED-ED8B-429B-8B48-587B78AC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18383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72735-A83F-43A6-9079-39F51564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1914525"/>
            <a:ext cx="54559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main menu: 存款 / 提款 / 上一筆案件 / 其他問題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C8AB7-B521-48F5-8A49-401272AC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FE4C2-0821-43D7-85AC-2807ABE1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2524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客戶先打自由文字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64A92-6F3D-4E21-B832-9AC81F4B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907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F44386-ED56-4568-BE5C-04927EF5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230695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高信心分類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58075-7222-448E-AB43-BF8FEF7E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23907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95D27-5CA4-4D4A-AD1E-788C65D6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2466975"/>
            <a:ext cx="54559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命中存款、提款、流水、忘記密碼就直接進對應流程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6FA8D-D316-4262-89FD-C2D178A6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E36DA-AF0F-4888-AE0C-E3849873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524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客戶說看不到選單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4D55D9-B7A0-430E-8583-C48B8AE0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432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1F02A8-663A-417F-A3F4-FDF8ECA9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19425"/>
            <a:ext cx="230695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重送選單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9A6DFC-2795-4E3A-8F9E-640D56FB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29432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D9293B-A483-4D50-B495-5E1D9EF7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3019425"/>
            <a:ext cx="54559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同 scope 第 2 次仍看不到，轉真人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8393C8-BBEB-4B5E-BC38-24A7926F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FD2035-1653-451D-AA00-04FF2247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2524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客戶文字模糊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2317D2-D448-414D-B6A8-D8DAC520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95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1A7D81-5C9E-4E84-B0DA-8649573F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71875"/>
            <a:ext cx="230695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提醒選按鈕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787E73-C173-4C18-8CCE-07DC4F76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3495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A40A75-8635-4EF0-943F-9DE0CB93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3571875"/>
            <a:ext cx="54559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可計數未知文字第 2 次後轉真人；問候/OK 不計數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9F12C3-42BA-44C7-9D8A-83C40022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B4B30F-B426-4A75-AF7C-B7919340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2524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客戶明確要真人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5D306B-0351-473C-AC8D-DDBEC694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481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02E22A-2F0E-4E60-8DDC-4409E9E7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24325"/>
            <a:ext cx="230695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human_handoff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5FBA2B-4060-4167-92EF-E4BE467B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40481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2A8A5A-CEDB-41B6-94E4-67E259B1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4124325"/>
            <a:ext cx="54559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不再追問資料，不送 TG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E10CE0-10D2-4306-889A-D6BF1F66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231005-381A-4F50-8AF0-2D530708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25241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客戶講不支援問題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9C8379-66BD-4118-BDB1-4DDE3DD8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005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E75E88-C18A-43A9-9A9D-32FCF3E4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6775"/>
            <a:ext cx="230695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human_handoff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7D1BF1-BCF5-4929-ADE3-BE23E94D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46005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22F115-FE88-4E4E-BC8E-81ED1B50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4676775"/>
            <a:ext cx="54559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遊戲錯誤、帳戶、KYC、promo/refund 等不讓 bot 硬套金流流程</a:t>
            </a:r>
          </a:p>
        </p:txBody>
      </p:sp>
    </p:spTree>
    <p:extLst>
      <p:ext uri="{BB962C8B-B14F-4D97-AF65-F5344CB8AC3E}">
        <p14:creationId xmlns:p14="http://schemas.microsoft.com/office/powerpoint/2010/main" val="6800805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229233-B54A-4701-8009-881A8D5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E518D-B976-498E-823D-D20959E0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DEPOSIT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85039-6507-471A-AB3F-BE571AF7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存款未到帳：資料門檻是核心，不能提前送 TG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AC9C5-4F15-4578-97E6-FB155F8B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E9FE6-7021-4BBA-939B-9B433BA9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09E23-4975-48C3-BA33-719306FC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6CDC3-EDA8-4D70-821F-5D335660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59502-B0C4-450C-98A9-393E1C03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1295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客戶說存款沒到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A5E343-AB05-4903-B52B-0BF0C1D8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9F822-2DA1-4F73-BAD4-723E89FF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09BD5-11B5-42B3-8DBD-4AA84A45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問帳號/電話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E60B9-806C-4A45-B1A8-69702BC2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9FC4AB-7A40-41B0-B4D0-B10A5B5E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10937-2200-46F2-BA65-06D957CE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2405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問付款截圖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927FF-8C2D-41FD-B2B7-CAB91B47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6AF6A-EDE3-4402-818E-BE854943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C3D2D-AAAB-4FC5-8389-6A201217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資料齊全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2B60A-D9EC-4BD0-A38C-35DEE22A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800077-E5CA-4704-B0DB-429389DE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3C2F9-DC34-45C8-A27B-ADCB3685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送 TG case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B0CF0-30F3-475A-A5FD-351801BC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284466-48EA-4AE5-A597-C009D0B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8097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73B30-574B-43E1-ABA0-F8771DF3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924050"/>
            <a:ext cx="819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等待後台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C981A-47B3-4AF0-A6BC-60D40C69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57ED9-6FA8-4E2D-8286-2C45BA58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客戶回覆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5B5D0-9340-4F67-931F-392353C1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76600"/>
            <a:ext cx="46443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機器人動作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3FD8B-D778-4FAB-9113-D9747B4A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390" y="3276600"/>
            <a:ext cx="26898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限制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9B7643-33A0-4F10-B7EA-0C163877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52825"/>
            <a:ext cx="10287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2A843A-A406-49A0-B151-4CADBBBA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29025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只有帳號/電話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A53AE2-AE20-4572-9B8A-9621A50F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52825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7D2A93-6BEE-46E6-89EE-84B01049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29025"/>
            <a:ext cx="464439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回問付款截圖，附範例圖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CB7381-A74C-4C7A-AC23-11693CB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140" y="3552825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8E43B3-A825-46FE-816F-C92C0982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390" y="3629025"/>
            <a:ext cx="268986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不送 TG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A85E9A-0258-463A-A8A2-528DF6C3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10287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CEB2DE-5F18-45A1-9D43-E3FCC527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只有付款截圖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7F1871-9F12-41A1-A5A1-0D358F98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530191-4544-4CEA-9FF9-759DFEAD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464439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回問用戶名或註冊電話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BC51AB-753C-4CD8-AD8D-A88A774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140" y="4000500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9CA820-63D4-4948-8A1B-6AF9A1C6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390" y="4076700"/>
            <a:ext cx="268986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不送 TG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7A63FA-C34A-405B-BF65-18BA1D08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48175"/>
            <a:ext cx="10287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486A83-A1DE-4270-B4D0-60A9E466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帳號 + 截圖都有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01A906-5839-4B19-A047-4713ABC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48175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122983-B3CF-4B92-A3D3-5691028A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24375"/>
            <a:ext cx="464439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回覆已收到，告知正在確認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2C6D23-4F59-447A-AFD6-5751499F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140" y="4448175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86DBAD7-8831-41A3-9B16-2D311979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390" y="4524375"/>
            <a:ext cx="268986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送 TG: deposit_missing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C0C75D-69C8-4CC2-82EF-13996489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10287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68F5CA-6E63-4916-BC2A-ABD2CA6F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收件途中提到提款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48FC87-C92C-4D63-BD88-5C186622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95850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1F1FAE-A4D6-45AA-A20D-33668FE4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72050"/>
            <a:ext cx="464439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若尚無存款資料可改提款；已有存款資料則轉真人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1913B1-BCF7-4BE4-8963-7BF718F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140" y="4895850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6081AE-8BCD-4B4B-AD12-9C6E82F1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390" y="4972050"/>
            <a:ext cx="268986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避免同案混類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F06513-C08A-4D74-AC4F-D3AB2AFC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43525"/>
            <a:ext cx="10287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531C2C-09D3-419C-A44C-291C0539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9725"/>
            <a:ext cx="238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說截圖上傳失敗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7983A5-AC8B-40C6-B334-9A02636C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343525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B7D43F-CBA6-41BC-8585-E61F6B26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19725"/>
            <a:ext cx="464439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轉真人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DD237A4-43AA-4480-B100-A4D9F033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140" y="5343525"/>
            <a:ext cx="9525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1A72D53-319D-4545-B92E-B25CF4FF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390" y="5419725"/>
            <a:ext cx="268986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避免無限要求附件</a:t>
            </a:r>
          </a:p>
        </p:txBody>
      </p:sp>
    </p:spTree>
    <p:extLst>
      <p:ext uri="{BB962C8B-B14F-4D97-AF65-F5344CB8AC3E}">
        <p14:creationId xmlns:p14="http://schemas.microsoft.com/office/powerpoint/2010/main" val="7004482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84034F-AE7D-41D1-95F1-5CCF6FD3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57B65-2F1C-47D9-AAC1-9E8D099B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DEPOSIT EDGE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9B187-326A-4BB6-83B4-F2A695C3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存款流程遇到異常時，優先避免錯分類與重複送案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A6F45-E17E-4A6E-B0EB-0440E40A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C9AD5-D5BD-491C-B83C-A94A4D54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C3750-8FAB-4C3E-AFEB-2AA03D86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BFD9E-A283-4368-A361-3C456DE8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05D69-6CB2-4140-84D8-711010B6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14475"/>
            <a:ext cx="3581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情境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350E3-36AE-42CC-8540-9D66D681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14475"/>
            <a:ext cx="6515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現行 SOP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77B0A-9D7F-453F-A3F0-85F9D7E4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8FE46-B8DF-4B9B-8229-6F778DDC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客戶在教學後直接丟付款截圖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378F3-F629-440B-B51A-2B53B05B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907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F8CB5-62BD-4E46-91B1-9018DF1F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66900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轉入 deposit_collect，沿用存款收件流程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6B60AC-6DF7-4E77-8F6E-2B7A2768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9FCD1C-5100-4E65-9F76-0B61E922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同一附件重複出現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D3E598-4D3F-4EDB-837E-4313430C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33540-82A2-4F45-833E-64142953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57450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已記錄 forwardedAttachmentUrls，避免重複 append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6BF8C-642E-4837-B78F-B8F10FCE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9CC5D6-08CF-481F-941D-E1ADEFF9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客戶在等後台時補新 reference/金額/截圖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3E613-1890-4FC1-BA33-9710367A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718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CF471-2D88-46B4-A67E-F0B1688E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048000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append_to_tg_case 到同一 TG 主卡，不新開案件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835CC-3B12-44A3-BB14-F99D06FC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417B6-4A2E-4277-A859-BA7F811E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客戶只說 OK / gracias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E5B9C-04A2-44DB-AC5A-2E231630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6DDFA7-1DBE-4B25-9E67-324FBF8A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38550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保留 waiting_backend，不當作已解決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7663B-A786-4E28-8A46-DD58B13D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054988-7196-43CC-8F80-7CC338A6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客戶明確說已到帳/解決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72B0A-AD0C-46A3-9EE4-2411BBF8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5290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DC935-C30B-49BF-91B1-DA669CB1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229100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soft_parked，回覆問題已解決即可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06AEC8-56A2-4F21-B943-C268A490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47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1B3117-CAF0-41C6-9791-BFEE5203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3581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客戶開始抱怨服務或要求真人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02435E-6AFF-4596-A1FA-AC5B648E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43450"/>
            <a:ext cx="95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C10526-7D2B-4738-A785-F543705F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19650"/>
            <a:ext cx="651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human_handoff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31F8DB-BE65-474E-9D21-4CCDB7FB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1047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工程注意：這裡不要用 LLM 自己判斷「存款成功」；只處理流程與補資料。</a:t>
            </a:r>
          </a:p>
        </p:txBody>
      </p:sp>
    </p:spTree>
    <p:extLst>
      <p:ext uri="{BB962C8B-B14F-4D97-AF65-F5344CB8AC3E}">
        <p14:creationId xmlns:p14="http://schemas.microsoft.com/office/powerpoint/2010/main" val="86627926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9A7672-CA0A-4B0D-8EF9-9A8071B2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0ADBC-B52E-4155-9512-65217FA7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WITHDRAWAL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BA083-DBB4-4365-A2DD-87DC29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提款未收到：標準案件要收身份 + 提款申請截圖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89080-F270-4DD1-B3E4-19AEF313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3DF38-0CF0-4C68-BEDD-7DA1D13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973AD-A960-4C14-8A67-04DF533C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93889-D881-4677-A28D-0C2AFEF8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D9D89-A0FA-4C81-877E-247DD2FD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14475"/>
            <a:ext cx="339280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情境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7028E-F356-45F4-BFC7-8B04F1A2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05" y="1514475"/>
            <a:ext cx="404431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機器人動作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16BAF-D339-4F81-B10D-8151CDCE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1514475"/>
            <a:ext cx="28498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備註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0C644-E1D2-4BC1-84BC-F52B8B47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4C723-7576-442B-8C95-30675A83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33928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提款沒收到 / 還沒付款 / pending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616CC-5ECD-445F-8376-0C145CF1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055" y="1790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A19A0-13CD-4A2D-8C3B-7C4D58B7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05" y="1866900"/>
            <a:ext cx="404431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進 withdrawal_collect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0B89F8-0D3B-438E-BABC-AB2EAC3E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17907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761F2E-C5F0-462F-BA2E-BEF02292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1866900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問用戶名/電話 + 提款截圖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0A1E2-0EA2-4970-A645-46ECB598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15913-E690-435C-B636-97DF0CA5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33928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只有帳號/電話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855E3-296A-430A-AA3C-FE1483B6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055" y="2343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1F465-3BA7-42FA-BD20-97A7C129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05" y="2419350"/>
            <a:ext cx="404431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回問提款截圖，附範例圖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7678C-B5EC-45AC-9110-4EED0D0B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23431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1F8371-1019-4DF9-9B92-27CE9EF4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2419350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不送 TG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3442D4-5EC7-4604-8D69-1708DC31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29DC0E-3F86-43FE-B4D2-56AAB99A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33928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只有提款截圖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55A1BE-AD38-41E0-8A8F-A56A33C0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055" y="2895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60085-68B1-4553-BA0F-6A1333AF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05" y="2971800"/>
            <a:ext cx="404431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回問用戶名或註冊電話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2497B8-7E5F-48C6-A055-9270C460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2895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031A6A-8782-4C4D-9D8F-67A7FAD9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2971800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不送 TG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8A9B12-0D03-47C7-A127-67A913F1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1B736-95B4-4708-A15B-5AEDD27B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33928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資料齊全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2F5A84-5C7A-45C8-87CC-67B1E71C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055" y="3448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6AC871-8389-4203-814E-ADE17554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05" y="3524250"/>
            <a:ext cx="404431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回覆已收到，送 TG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79B245-63C4-4ACC-A4B3-D4AD65DD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34480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C21533-EB87-4823-A419-86B6CB9D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3524250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caseType: withdrawal_missing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53A1EA-B099-4FDA-826C-C7FB3B43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F7F6BA-C0FF-4FD9-BE07-358F13A7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33928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提款流程中提存款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49FEF3-7669-41A7-8655-FF2D3EED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055" y="4000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506055-CB5F-4858-8B9F-032ED300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05" y="4076700"/>
            <a:ext cx="404431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尚無提款資料可轉存款；已有提款資料則轉真人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1C754F-B2A1-4E00-A43D-4731543A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4000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084E11-B548-4C32-BFCE-951953A0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4076700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避免錯案種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E144F7-A1EB-4F4C-AC67-15DE7819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24E2B8-55D8-4101-BE8F-68FF3174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33928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提款截圖上傳失敗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A0B70C-4D76-4A43-8A04-0D0F69C0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055" y="4552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C29DDF-A38F-49D1-A5F9-2F3CE3DE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5305" y="4629150"/>
            <a:ext cx="404431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human_handoff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697EF9-FBD8-4F86-A345-14187989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4870" y="45529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EA6B2C-88E6-428E-869C-A7429AB9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120" y="4629150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不讓客戶卡死在附件需求</a:t>
            </a:r>
          </a:p>
        </p:txBody>
      </p:sp>
    </p:spTree>
    <p:extLst>
      <p:ext uri="{BB962C8B-B14F-4D97-AF65-F5344CB8AC3E}">
        <p14:creationId xmlns:p14="http://schemas.microsoft.com/office/powerpoint/2010/main" val="140691854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B5A101-79AC-45F2-A684-25A18914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4A383-F4BA-4F45-94F0-ED3DFDC4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WITHDRAWAL RISK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CB03F-053E-468A-97DB-90E226F3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提款相關高風險問題不讓 bot 猜，直接轉真人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B9B96-DB21-4063-BE95-0E3F4EE7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421D8-C65B-4254-88FC-46D2714B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E019B-8495-4A62-8810-D843F2BF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24FFB-75AF-4B70-9474-EFF723A2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238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A4A48-AB45-4EFD-B0B1-FEB396C8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266C2-A444-4016-85AB-8D8CA326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859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標準提款未收到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4A817-B5C9-4133-BACD-B01D5C23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2819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rPr>
              <a:t>有提款申請、只是款項未到：收身份 + 提款截圖，資料齊才送 TG。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FAEF1-E5D0-4BBF-80DC-BDF2B780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3238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3227F-97FA-4BEC-A753-86978C88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A2642-291F-4B16-87FA-9E9B2D6B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859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無法提款 / 流水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D0713-5A7D-47F4-871C-9B0DBE55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28850"/>
            <a:ext cx="2819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rPr>
              <a:t>客戶無法提交提款：問身份後查 rollover backend，不直接送 TG。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857A5D-2364-467C-8ABF-4E03D8D7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238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D4560-DAFD-44EA-8A10-5511C996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B9686-28E2-4E93-8F61-C84AABB4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85950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高風險提款問題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7B2AA-9986-4F15-B0AB-59FDECEB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8194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37454F"/>
                </a:solidFill>
                <a:latin typeface="PingFang TC"/>
                <a:ea typeface="PingFang TC"/>
                <a:cs typeface="PingFang TC"/>
              </a:rPr>
              <a:t>錢包/銀行/Nequi、身份文件、帳戶資料不符、通道異常、提款被拒/取消/退回：直接轉真人。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CD1FE-2256-486A-899C-370EF1B7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028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FB25C8-3F4B-4E00-8548-5AD0EBF4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0475"/>
            <a:ext cx="37185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風險訊號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3E37A-9E5E-4BBD-A4CC-CDDF6564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3800475"/>
            <a:ext cx="20726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SOP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04C24-F34D-4E8A-AF63-3442ABE5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00475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原因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1DFE1-D48E-4248-BC45-D6C9923D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AB037-9142-4072-9DB4-A46CB49B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37185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客戶說銀行/錢包名不符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234189-B8F7-44B7-9BCA-16703C68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40767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2B147A-78C3-4BA1-A657-22EBDE22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4152900"/>
            <a:ext cx="20726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human_handoff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F1B874-AD76-49CD-B58A-5F3E6F63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767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6B498-00B2-4ACC-9168-36AC392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52900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涉及真實收款資料，bot 不處理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FC4988-70D6-4FE4-BC95-AEAA585C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819ED0-E012-41FC-BE51-D869190D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37185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客戶說提款成功但外部錢包未收到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FC3D41-1B92-42AE-8371-6AA6C8D2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45339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47053A-6260-47BB-B986-0742B812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4610100"/>
            <a:ext cx="20726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human_handoff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D69ED9-26DA-4EC5-8E85-00B75C73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42EE58-4FC0-4FA4-B2E6-7DA99E1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10100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不等同一般「平台提款未到」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EF49CB-9E49-4560-9500-52CCC49B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0B788D-C6D1-4104-9501-92F8595F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37185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客戶說 Nequi / bank / document / passport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CD1B2C-D494-471F-B06B-CC7D0973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49911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F99572-AE17-44D7-9783-483FCB20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5067300"/>
            <a:ext cx="20726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human_handoff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53EE54-69D9-441B-BBDB-A5781BCB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9911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7D1C27-143D-4021-9CCB-F3FA9309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67300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身份與支付風險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862034-991C-4ADC-B6EA-4A7A5D8B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48300"/>
            <a:ext cx="1028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D22C16-CB2B-4E83-932B-DC14762A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37185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客戶在收件中情緒升高或一直要求人工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62C3DF-6A6C-4C4E-B224-A37E90A5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1560" y="5448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1B3AA1-BBE2-4863-9BD2-FE0CD036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5524500"/>
            <a:ext cx="20726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human_handoff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836AFF-098B-4034-9E76-9BFA7D7B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44830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6218A6-7D1A-4470-A651-216F2A26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524500"/>
            <a:ext cx="3924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避免模板激怒客戶</a:t>
            </a:r>
          </a:p>
        </p:txBody>
      </p:sp>
    </p:spTree>
    <p:extLst>
      <p:ext uri="{BB962C8B-B14F-4D97-AF65-F5344CB8AC3E}">
        <p14:creationId xmlns:p14="http://schemas.microsoft.com/office/powerpoint/2010/main" val="16224158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247CCE-E76A-4FB8-B5DB-6783F613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5B5C5-E8BF-4C15-83FF-8F91C8C1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ROLLOVER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48E65-73E4-4598-82CF-FEB7DEAF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不能提款：這條由後台查詢控制，不靠 Telegram 猜答案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F9FEF-8795-465F-9EF8-36176EE2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64AD9-7417-4475-A7F0-E4BA1407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1B9CB-8520-4C9B-B1CD-1FB4AA1C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30698-8511-46F4-A551-841EE722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E4AA8-70EE-4FA8-AB73-2427CE4D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38633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條件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B9A5D-91A9-4F04-BFC7-62636141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1514475"/>
            <a:ext cx="64236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機器人 SOP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53C43-ED2D-4C56-8AFE-A22AADB2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10668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CD48C-AE9A-444E-9155-F2FCD85B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386334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客戶選「不能提款」或文字命中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3CAF9-C85B-4FAF-9471-9FD2706F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1790700"/>
            <a:ext cx="9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9E651-F118-49F9-AF03-F164E49D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1866900"/>
            <a:ext cx="642366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送無法提款/流水教學，要求用戶名/電話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091B8-D565-4222-85C6-CECF6EC3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10668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6F63F-EA6D-46B1-B081-4BCD5F35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386334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收到身份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8F437-7413-445F-BA68-EA66FEA3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2371725"/>
            <a:ext cx="9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91DC5A-092B-4258-82EA-AAC63825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2447925"/>
            <a:ext cx="642366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query_backend: rollover；owner = BOT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CD59B-19E8-452D-9824-41AD8448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668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1DC70-F0EC-437B-9F95-64FDE8ED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386334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查到仍有流水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9E095D-2978-4D2B-9033-2B1036C0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2952750"/>
            <a:ext cx="9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16B8B-F53C-40A5-BCCE-0FDFF176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3028950"/>
            <a:ext cx="642366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回覆剩餘 rollover 與概念說明，叫客戶完成投注後再試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993B7-78E4-4845-B826-3FA89BC7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0668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B7153-FE70-4D49-8287-DEEF00B4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386334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查到流水已達標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F335A9-E404-4207-A564-4013CF63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3533775"/>
            <a:ext cx="9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1AAEF2-84ED-49A8-829E-B7ED9DC7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3609975"/>
            <a:ext cx="642366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轉真人，請人工查其他原因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8497A-B3D5-40DA-92F5-D1A76316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668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A0360A-1CAE-4A74-AF05-0D21B246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386334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查詢失敗或找不到函式/API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B7E10C-A7B7-4838-8E5B-2DFE151D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4114800"/>
            <a:ext cx="9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BE6459-2881-4E7A-B20D-79B87CAE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4191000"/>
            <a:ext cx="642366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回覆無法確認並轉真人，不假裝查到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DACBDE-5AC8-42E2-849D-74259D3B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10668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8449F4-57EA-472D-B7C7-6D266A50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386334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客戶說已經玩了但數字沒降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40E7B8-6F23-4834-A5F8-2DD27DE6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5840" y="4695825"/>
            <a:ext cx="95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872B4F-48B4-4F6D-8556-C28E8A64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090" y="4772025"/>
            <a:ext cx="642366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第一次解釋系統有效投注計算；第二次轉真人</a:t>
            </a:r>
          </a:p>
        </p:txBody>
      </p:sp>
    </p:spTree>
    <p:extLst>
      <p:ext uri="{BB962C8B-B14F-4D97-AF65-F5344CB8AC3E}">
        <p14:creationId xmlns:p14="http://schemas.microsoft.com/office/powerpoint/2010/main" val="14857038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310A3F-8834-4417-BB46-7029DDCF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2AFE4-D59F-4B10-8AAA-E76A6228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SELF-SERVICE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3E898-2AA9-4160-A59A-F26FB04B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教學型流程要有退路，不能講完就消失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36CAC-20DF-446B-9F27-8B8F8688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88B86-2959-462F-97B3-4ADB1132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7F8A8-A157-4521-AE8D-2FFDE374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D1C29-181C-4337-858A-FB5F99BC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B37F1-14AD-4513-B1BF-C57579AA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1943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A4C3F-DE65-40E4-8255-4A314980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657350"/>
            <a:ext cx="4610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機器人做什麼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178A1-D11C-4031-AA10-3BB3652E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57350"/>
            <a:ext cx="3543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後續 SOP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22AAE-CD84-4076-B91F-48CFC580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33575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6252-8752-413C-B9B4-9005CA0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977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如何充值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E21CA-B072-411C-A64B-F731C08A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3357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2971C-95B9-4E67-880B-48794DB3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9775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送充值圖文教學 + 存款退路選單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80F93-1488-4023-B295-F0DF3957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3357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5CB1F2-7678-4B4C-9D09-87312B76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977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後續若傳付款截圖，進存款收件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857DE-2242-49C1-A1B5-76785255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4051A-6F3F-4154-BDB8-32A7BAD7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如何提款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44FE8-0AA6-4892-8514-EF147797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6222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72AED3-38D5-4D85-A1FA-DB8CCF52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38425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送提款圖文教學 + 提款退路選單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E917B-646A-482C-886E-1C737FFC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6222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C2222-9957-41E3-9053-A4BF3B12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3842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後續若傳提款截圖，進提款收件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D6F94E-1A05-4802-A6F4-0214FB19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8F0D7-B6BF-4A07-80CA-C4060027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忘記密碼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F57EF-3D1F-48D6-AD90-DBAEA39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9087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91A00E-EDC8-479A-9772-E072F0A6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67075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送忘記密碼圖文；提醒多數用戶名是手機號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C38A76-3E10-4F71-BCC9-9767E6BE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19087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F6A987-B9A0-4936-8996-B7016495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6707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如果仍不能登入或傳錯誤，轉真人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D5E7C4-AEE3-4056-8E12-B6A21F2A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9525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46B4E2-1346-4B04-A580-7528FDC6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只回 OK / gracias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2E38F3-437B-472E-AD21-F0747B50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1952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A8AC4D-4DF5-4193-AB6A-0087448A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95725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不打擾或 soft park，依階段判斷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8BBB25-830E-4286-B9A5-E861E2C6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1952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44505D-4B39-455C-9B16-1A4C19DA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9572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不要重複貼教學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6B1667-CF8A-4026-9EAD-2DA4C65A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07BFD7-1730-4F19-8263-5B1217D4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2437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重新打 hola / buenas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E6A7AB-40EB-4F94-8B00-2EFD0231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4817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8DC658-DDCF-4CD8-B0F1-D26EC432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24375"/>
            <a:ext cx="4610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送 recovery menu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0D87DB-ECE9-45DA-8B7A-35E98E12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48175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42770F-CAF8-4894-888F-B5D13C64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24375"/>
            <a:ext cx="354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讓客戶回到可選路徑</a:t>
            </a:r>
          </a:p>
        </p:txBody>
      </p:sp>
    </p:spTree>
    <p:extLst>
      <p:ext uri="{BB962C8B-B14F-4D97-AF65-F5344CB8AC3E}">
        <p14:creationId xmlns:p14="http://schemas.microsoft.com/office/powerpoint/2010/main" val="13228868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CFF189-8140-49BC-8641-1280A0B2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C8AE6-D51F-4909-BC8E-67BA6308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PREVIOUS CASE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61CB0-28AF-4855-9637-B438953C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上一筆案件：查存在狀態，不重新亂開案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DBF69-FACD-4D14-8541-1A14F8AB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6BC9F-6405-4F72-B17D-D0972ADD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1B3B5-325B-42F0-9FD3-B6BBB6C3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28F30-F664-48F7-A66E-35F2AEC6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C8F33-D3AC-4440-B994-EF922AAA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28498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情境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3FBB4-325E-4C0F-AF3B-AC2BA2CD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1562100"/>
            <a:ext cx="32842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狀態/動作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D0432-CBD8-4CBD-B8F8-48CFEF7E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562100"/>
            <a:ext cx="415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9CB40-7F5E-4C89-8414-41D4872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858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A533C-645E-449D-8384-2CB8E7F4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28498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客戶選上一筆案件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7D9C1-3B81-42CB-AA2C-DFB2262F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130" y="18383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07DC1-BAD2-4CFA-AF38-DDCB6ECE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1914525"/>
            <a:ext cx="328422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pending_reply_collect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3BEB8-39BA-4BC2-9233-99D26961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383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E3741-AA34-427F-A846-E0CF8391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14525"/>
            <a:ext cx="4152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問用戶名、註冊電話或 email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7E004-8A59-4083-804B-063CCA16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858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530695-2515-4639-B2F3-8F73B710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8498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身份格式無效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E276D-679F-4E36-B1D0-74AE16EF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130" y="23812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3D8B88-3424-477D-9799-7C5DD965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2457450"/>
            <a:ext cx="328422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固定要求只提供一個身份資料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3F89E-3EE2-4E7A-A20B-A30EEB20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D3577F-E0F9-48B1-BD74-F82888E9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4152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避免拿整句話查錯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BAA28-5E38-4605-A84F-17564445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0858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98FD42-5216-4BC4-A9E7-E91FE3D9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28498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查到仍等待後台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0C5267-1C8F-4B8D-AAE8-779CA539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130" y="29241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D2DF2-6A8C-4E88-A7F1-A4866E02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3000375"/>
            <a:ext cx="328422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回覆前案仍在審核中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D031B8-47B9-489C-B938-EC2D0F55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8382CD-514C-4EA6-88FA-C23FF515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00375"/>
            <a:ext cx="4152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不新開 TG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4ECC64-7532-46CB-B19E-BD9D678A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0858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EFABCC-E774-426E-883E-21297911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28498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查到已轉真人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99FE17-E488-49B9-B708-8013B7D3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130" y="34671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76CF16-C198-416C-A122-DC00EC5E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3543300"/>
            <a:ext cx="328422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提醒等真人；若新問題回選單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3952E5-4287-4C3C-91E2-7E5A851E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6710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32CE76-DF90-4723-9BAA-976EBCCC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43300"/>
            <a:ext cx="4152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不與真人搶處理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DD0A8D-2494-4A7B-B478-A11AC615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10858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BC2807-D15F-4032-B1BE-671776CD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28498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查到已有回覆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86B1FE-9C9D-4AE2-8747-29551562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130" y="40100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41AC3B-0458-4840-AC9B-0CE301D5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4086225"/>
            <a:ext cx="328422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回覆 latest customer-visible staff reply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1AC4B1-F24E-4CEE-80B5-47DC6BFC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10025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93FDA4-DEE7-40BB-82A9-B2805298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86225"/>
            <a:ext cx="4152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不發內部原文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C2DD1A-7108-422F-8FA9-CECA765F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858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82B966-93CE-4F4E-B12D-521CA601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284988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查不到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A49FB0-4580-4B11-9E48-44CE9115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130" y="45529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C6F364-CFB1-43E3-A0A3-B75A8C5C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2380" y="4629150"/>
            <a:ext cx="328422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給主選單/真人退路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16A579-6E9A-4C67-B8CF-90E6A436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52950"/>
            <a:ext cx="952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8741F1-DE28-4D57-B6DF-CB045744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29150"/>
            <a:ext cx="41529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不要假裝找到</a:t>
            </a:r>
          </a:p>
        </p:txBody>
      </p:sp>
    </p:spTree>
    <p:extLst>
      <p:ext uri="{BB962C8B-B14F-4D97-AF65-F5344CB8AC3E}">
        <p14:creationId xmlns:p14="http://schemas.microsoft.com/office/powerpoint/2010/main" val="149001410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A49A53-BA83-4F90-9D11-DE71054A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1941F-02D0-497B-9798-286F7523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WAITING BACKEND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23E56-C96D-4AFA-A089-93CEF3E4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等後台時，不能把「謝謝」誤判成結案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9F345-CFB0-4ADD-972B-53D3065A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B8BBF-D4E8-4A7B-9451-3497E3D0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6C320-E804-4141-8607-4CE50084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7145A-B377-488F-B9CD-E8F3F6DF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20E83-4EB3-4A51-BA5F-58F4CB99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393573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客戶在等後台時說什麼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84095-CAA7-41B9-9E4E-7000C918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1562100"/>
            <a:ext cx="28498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機器人狀態/動作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598AE1-397A-4B5A-8163-BAEE56C5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610" y="1562100"/>
            <a:ext cx="350139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判斷重點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4F2F70-8C15-4452-9112-09BA3DF9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BC96E-3CE4-4562-A489-D9E139EE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14525"/>
            <a:ext cx="39357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明確已解決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75D71-6591-4431-85B7-75B3860A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980" y="18383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F323B-AC0A-4839-B524-E529231ED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1914525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soft_parked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8073F-BAEE-4952-A02B-2D702EC1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18383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1BC24-65BA-4D3B-995D-937D8E81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610" y="1914525"/>
            <a:ext cx="35013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例如已到帳、問題解決、ya llegó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3FB8A-9FF3-4C5B-A7D7-A09D220C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34317-7F6B-412D-ACC6-56D84DC3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39357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只說 OK / gracias / entiendo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7FEA6B-8202-4DB0-A594-721E100C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980" y="23907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69FD22-3BD6-40A2-BCCA-8BBB8380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2466975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繼續 waiting_backend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7D191-5B93-4480-ADE1-543A0286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23907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BE0CB0-A56E-480A-9F35-5903427A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610" y="2466975"/>
            <a:ext cx="35013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回覆保持審核中，不當作 resolved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BEBAE7-156B-42C3-B645-64CF3E04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4322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0F385-4D5E-4DEC-8DD4-29326A21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39357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補截圖/reference/金額/身份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8B7529-ACBF-4869-8ED9-30E01BF8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980" y="29432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C14AEB-9E59-40D8-AE6A-64CB450B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3019425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append_to_tg_case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D46034-43DE-4AD1-B39B-AC9577D6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29432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4A7E5E-36E0-495E-9FA9-70D02216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610" y="3019425"/>
            <a:ext cx="35013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追加到同一 TG 主卡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F1B0CC-F603-4BCD-8CD3-482D9DE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D3D5F-9412-4910-BBC5-77B78C0E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39357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一般催促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16E347-7C5E-4A83-AB58-74B029A5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980" y="3495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9B336F-94CC-442B-B608-78533AEA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3571875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回等待安撫文案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1559E4-05B2-48FB-9595-3717861E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3495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F39BC-CD7D-4F83-B809-9FE723DD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610" y="3571875"/>
            <a:ext cx="35013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第 2 次 countable followup 轉真人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3FE1D5-AE0C-4AA3-92ED-BE58D39BC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1ED843-C787-4F78-8AD4-491A8F97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39357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要真人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E74890-77D5-4775-B3D1-65C8DFF9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980" y="40481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7A8C80-4A33-4BD7-92CF-1D83F42F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4124325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human_handoff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BC8568-A4A7-4572-AF93-895FD6F2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40481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CD9C33-0563-4665-810F-C16785D0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610" y="4124325"/>
            <a:ext cx="35013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不再繼續模板安撫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8D417-9271-48FD-8B25-EF13C90F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3214BA-04E2-405D-88C2-F52654D4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393573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提出新具體問題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892D01-E764-479E-BCC0-D013462A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980" y="46005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AA6256-544B-488C-82E2-901DCE31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8230" y="4676775"/>
            <a:ext cx="2849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human_handoff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0240EF-148C-45D0-AA29-4D838DE2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60" y="46005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B622A9-F92C-40D9-B2CA-A78D41BF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610" y="4676775"/>
            <a:ext cx="350139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避免原案件中錯接新問題</a:t>
            </a:r>
          </a:p>
        </p:txBody>
      </p:sp>
    </p:spTree>
    <p:extLst>
      <p:ext uri="{BB962C8B-B14F-4D97-AF65-F5344CB8AC3E}">
        <p14:creationId xmlns:p14="http://schemas.microsoft.com/office/powerpoint/2010/main" val="81172948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D7BCF5-3354-450D-9C42-2F78D77F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BFB07-D02A-4BE9-BA03-D6B938A0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TELEGRAM STAFF REPLY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877AE-5036-49E0-983C-265A2DDD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Telegram 後台回覆必須通過主卡閘門與事實檢查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47B82-EB3C-483E-889A-11CA1BC7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711D6-A065-4E7E-9DB4-458603CE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009BC-EBB8-4355-A8F2-87A12288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98D09-BC4B-433C-BF37-7B564385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B1C8A-8933-4A79-A17C-C7E2A92F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76425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TG 主卡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已建立 mapping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5C4FB-801D-4771-B36E-2726E11C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0BC9B-3815-4CB5-96C2-70C81947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F2160-FD76-4467-AB06-DA11E6B7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76425"/>
            <a:ext cx="148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後台 reply</a:t>
            </a:r>
          </a:p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主卡/字卡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E07F9-4908-4DD0-9647-BFC0C1BF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D51F7-00BE-4081-AB5F-AA6C9330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F9293D-6698-435F-AB37-A22E2E2B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76425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Processor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翻譯/客服化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CA008-BE33-4478-A6FA-599D1207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8B2FF-08F1-4A0A-B5CC-3ED51AB8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62125"/>
            <a:ext cx="171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89E5C-F743-4028-A6C7-2997B668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76425"/>
            <a:ext cx="1485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Fact check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擋新增事實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102C03-6344-4BA1-8AE5-71250812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19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543A68-0E2E-4399-96C1-DA52E4AC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762125"/>
            <a:ext cx="76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929BA-E57B-4E6B-87F6-848232B1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876425"/>
            <a:ext cx="533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送回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04B0A-3CFB-4111-BC35-DAC0DC3A9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1009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AC150-034A-46FB-A18F-03F2CC89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7185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事件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6AAA22-BE4C-44FF-8DD3-30AC2711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304038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處理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8BACC-E1F9-4EEF-B163-E2C3177F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3371850"/>
            <a:ext cx="36461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原因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21729F-BCBA-42C5-9B14-96220B84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1009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E3F63-09FA-4EEB-9382-6D7E4340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24275"/>
            <a:ext cx="2838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不是 reply 主卡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D6C452-D4DC-4350-830B-9F2EAA2F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648075"/>
            <a:ext cx="9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EA6C5E-181E-4515-9478-D178F9E9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24275"/>
            <a:ext cx="304038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忽略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A241E7-03EC-4394-8968-AD598369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3648075"/>
            <a:ext cx="9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78ED0A-804E-4DE2-B877-2949692E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3724275"/>
            <a:ext cx="364617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避免 topic 噪音被轉客戶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C88D9-3D12-4D08-B4FA-210D9E6A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1009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7EA7DC-36C8-4B22-87BA-70912F7E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2838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後台英文/內部語氣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12CC53-47CF-43C9-BE30-47A5A5F1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76700"/>
            <a:ext cx="9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238CD4-FF80-4EF3-B98F-764A51EA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52900"/>
            <a:ext cx="304038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processor 轉西文客服語氣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1E5BBE-8EF0-4C48-AE6D-D3E644A7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076700"/>
            <a:ext cx="9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83637B-D84B-44D0-A5A3-9129C2B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4152900"/>
            <a:ext cx="364617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無 processor 時阻擋或 fallback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C02EAC-E871-4FCD-B92F-EAE8FC2A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5325"/>
            <a:ext cx="1009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1BDCC8-6D46-4F71-B24D-0084B175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81525"/>
            <a:ext cx="2838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LLM 新增金額/reference/URL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AFF18E-51E1-42C7-AF08-64FC74D7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505325"/>
            <a:ext cx="9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BB4D91-5FB8-42A9-9241-C57FC1E3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81525"/>
            <a:ext cx="304038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fact-check 擋下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91987B-5A71-40A5-A73A-FDB5CEA7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505325"/>
            <a:ext cx="9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59D947-ECB1-46F7-8F95-9F149739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4581525"/>
            <a:ext cx="364617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改用 fallback，不讓幻覺出客戶端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99B7C4-5D9A-40DB-A707-7521A497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33950"/>
            <a:ext cx="1009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2409D6-574E-4BB6-9011-34D43795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2838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把 waiting 改成完成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91EBB6-4D9E-4864-B117-90591434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933950"/>
            <a:ext cx="9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261DC6-17AD-44CF-B446-592B3C8D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10150"/>
            <a:ext cx="304038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fact-check 擋下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CE86DDA-1131-4B55-AE4E-5EE6ACC0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933950"/>
            <a:ext cx="9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C7585E-0882-4400-B9FD-51F46E5C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5010150"/>
            <a:ext cx="364617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不能替後台升級狀態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433A9F-8830-43A8-879B-57F80FC7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62575"/>
            <a:ext cx="10096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855C9B-C70E-4AE3-9DE4-141A37EC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38775"/>
            <a:ext cx="28384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送 LiveChat 失敗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72552D-E4D5-4AD5-9FB6-FB2D06C8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362575"/>
            <a:ext cx="9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C898A33-2B21-462B-BA18-45FDC487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38775"/>
            <a:ext cx="304038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health/audit 標記 unhealthy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9BA049-DF86-4FA6-8181-F6DDDD29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5362575"/>
            <a:ext cx="95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DC5B6C-C6C3-46E4-8F40-5AB478F3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2830" y="5438775"/>
            <a:ext cx="364617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050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需工程排查</a:t>
            </a:r>
          </a:p>
        </p:txBody>
      </p:sp>
    </p:spTree>
    <p:extLst>
      <p:ext uri="{BB962C8B-B14F-4D97-AF65-F5344CB8AC3E}">
        <p14:creationId xmlns:p14="http://schemas.microsoft.com/office/powerpoint/2010/main" val="82745438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095A3-49AD-4481-92C4-CCA81B26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70DF3-E0FE-4D46-BACC-85169E39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HUMAN HANDOFF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89088-68D1-4325-B02F-1F784E0D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轉真人是風險控制，不是失敗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8FA0D-4231-49A2-9603-EFEA233A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DA4DE-4E77-43F4-A645-BF69BA11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37C40-DBA9-4902-A1AA-C43C0F2D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E1FCD-643C-4A64-8936-AD2E3B26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0F903-BF03-4436-9917-B6582E96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66850"/>
            <a:ext cx="34366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觸發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26FDD-425F-43E9-BA24-B8896AB9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1466850"/>
            <a:ext cx="27965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SOP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11778-60D6-449B-8E92-387D2CA18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1466850"/>
            <a:ext cx="386334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目的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2FD98-2DA3-479B-A472-7E65595D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0668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EABD4-F333-4F22-B5AE-81AAFE55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19275"/>
            <a:ext cx="343662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客戶明確要人工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43090-2434-44BD-861B-BC6D3640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430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3DBDA-9309-474E-B1F2-2AF4059A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1819275"/>
            <a:ext cx="27965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直接 handoff_human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C9240-0693-4FF6-9F1D-0AA343AC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17430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6E4B1-C2D2-42F1-B20D-EAAF251D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1819275"/>
            <a:ext cx="38633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不追問資料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8FE581-B8A8-4E69-8CEA-B9835EB9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10668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CB9FD-1598-4FA1-9EDE-BF09A039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343662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退款、promo、bonus、affiliate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034B9-E4D6-4873-828E-52F9863D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2479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F00AAD-C22E-45F8-9015-7CBCED13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2324100"/>
            <a:ext cx="27965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直接轉真人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9DEFA-94FC-439C-BC68-C4F0BEAE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22479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C05396-2001-47ED-874F-4455A7F9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324100"/>
            <a:ext cx="38633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政策/營運類不讓 bot 解釋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EE4582-3A06-46BA-9174-F58F9AE1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10668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E9ADA-3DA8-49FD-93F6-25221F03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343662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帳戶登入教學後仍失敗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18A757-F2BD-4EC8-BB5D-88C3D71D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7527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1C357-1E71-4633-8E52-6825C8FF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2828925"/>
            <a:ext cx="27965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轉真人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91D0C2-6635-4BF5-A211-648538B0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27527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43EE32-3DE5-4ED5-854D-FB0A77D8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2828925"/>
            <a:ext cx="38633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需要人工查帳戶或錯誤畫面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2C361D-F372-4A9D-BA02-265FD655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0668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4AD3AC-3CD6-4DCB-97CD-3D6295D9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343662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帳戶/KYC/身份/錢包/銀行異常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AE724D-608D-4C7A-BB11-3616078B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2575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916261-89C9-4EE7-91EF-4093EC81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3333750"/>
            <a:ext cx="27965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轉真人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E18232-556C-426D-9819-E2DB7E7C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325755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59D7F5-0FA5-4AFA-BB25-6D196805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3333750"/>
            <a:ext cx="38633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高風險資料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648003-6F15-463E-A28B-9C5C789D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0668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2B5F1A-239B-4DA8-AB07-2C875652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38575"/>
            <a:ext cx="343662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辱罵或強烈不滿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62282C-8051-4E3A-8622-AADCB57A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7623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47D0C6-D10B-4E70-A7A7-D6205D3C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3838575"/>
            <a:ext cx="27965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依 SOP escalation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07F7C8-7804-4B25-B5F6-1CE2DF5D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376237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4F75C7-0280-450C-B85F-0316E039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3838575"/>
            <a:ext cx="38633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避免模板激怒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0CD1E2-BEDA-4322-B56F-FAFCE202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10668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7DC318-3FB4-404E-BEAC-374B0A2D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43662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bot 已轉真人後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7EA012-DDD4-4C51-AA3A-5124899A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2672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805AFE-B35E-4CF7-B406-880E44C3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4343400"/>
            <a:ext cx="27965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bot 應沉默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4CE742-B0F2-4841-8C57-8D3D615D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4267200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4BA358-2DCF-4A4A-AA7B-B58F7488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4343400"/>
            <a:ext cx="38633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避免與真人客服搶對話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7B3C43-C1ED-4D17-95EF-41723BFF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06680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1EFF5E-3CB6-4167-9B29-6A6B79FB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225"/>
            <a:ext cx="343662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送 TG 失敗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C072D4-D395-4C36-AB58-89555EF5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7720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3E8F7C-6B1D-4E0D-B55E-825285A7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4848225"/>
            <a:ext cx="27965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回覆內部送件失敗並轉真人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B9D3460-E2D5-4572-A32B-D1F66E52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6160" y="4772025"/>
            <a:ext cx="95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3266B2-C860-4BC0-B9C9-B4961750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410" y="4848225"/>
            <a:ext cx="386334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避免案件停住</a:t>
            </a:r>
          </a:p>
        </p:txBody>
      </p:sp>
    </p:spTree>
    <p:extLst>
      <p:ext uri="{BB962C8B-B14F-4D97-AF65-F5344CB8AC3E}">
        <p14:creationId xmlns:p14="http://schemas.microsoft.com/office/powerpoint/2010/main" val="130066323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3B59B5-8F86-4D1B-85C1-B822867E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5D9DB-E0E5-4AA6-A90B-E1CFAC06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IDLE / ERROR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D27FE-02A7-467F-B255-37CE6A1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沉默、關閉、錯誤都要可預期，不要讓 poller 無限重試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7B5AB-9C81-4434-875D-BEAD7E58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6F33C-135E-44D9-B00F-8AC7CC09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C18CC-AFBB-4253-93DF-59D5DF67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D1DE0-EB21-4212-9539-DC6E6D0C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076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33D"/>
          </a:solidFill>
          <a:ln xmlns:a="http://schemas.openxmlformats.org/drawingml/2006/main" w="9525">
            <a:solidFill>
              <a:srgbClr val="24333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9F9AF-76F8-4B4F-B0A7-024DF1EA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62100"/>
            <a:ext cx="346900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情況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16E64-26EC-4C9A-ABA9-73DC1C9F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1562100"/>
            <a:ext cx="368427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現行 SOP/保護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57907A-0CA1-4A2C-834A-E2259B7A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38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工程意義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95103-537D-48CD-AAEE-016519A1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38325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B95848-C5AA-4B6A-992B-DDF80932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14525"/>
            <a:ext cx="34690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客戶最後訊息後 120 秒未回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859C4-7CC6-406D-BEB4-0FCB6A59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80" y="18383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731644-5BBC-4F58-A8A8-014318F8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1914525"/>
            <a:ext cx="368427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送一次 idle_customer_check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EB2DB-D7A0-4452-ADD7-E16697B0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383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94B41-A7F6-4E6F-87AE-5F467C3E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14525"/>
            <a:ext cx="3038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避免問題停在半路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5C01E0-0D6F-420D-9619-6F1CA0BB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90775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D0707-EBFE-4245-82AF-70D05ADF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66975"/>
            <a:ext cx="34690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跟進語後 2 分鐘仍未回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E1AB6-78E0-435D-8B9F-5E270FAB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80" y="23907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D3C620-894B-42E2-ABDA-F10FE271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2466975"/>
            <a:ext cx="368427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送 idle_customer_closing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C0E728-4FF2-45D7-8866-95DC424A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907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A576BE-C6C0-4514-A1A1-C6031B8A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66975"/>
            <a:ext cx="3038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目前新版會送結束語；舊 SOP 曾寫不 archive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065244-2BC5-4974-969C-5F326D30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43225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49FFF-D889-4882-8CEB-366F13B3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19425"/>
            <a:ext cx="34690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客戶已回覆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958C1-6867-48A9-AC5B-2D73AC6F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80" y="29432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418848-ADC1-4DE6-BF09-D3024DC9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3019425"/>
            <a:ext cx="368427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重設下一輪 idle timer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B61315-0876-420B-8F7D-BE16170A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432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B39AE6-D6CE-4FB1-96DA-3851F0A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19425"/>
            <a:ext cx="3038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不亂催促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20A496-60C6-43CB-9F79-E0350349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95675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A93EF3-A1DF-4541-9BA5-AF9E2C28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34690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LiveChat 已關閉/unauthorized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20596D-56CE-4454-8978-48D6A891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80" y="3495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791F95-8DFD-498A-9D8E-58A9D759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3571875"/>
            <a:ext cx="368427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標記 inactive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00D064-CA3E-4161-9FA0-B494585C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95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252AA2-2458-44A6-B468-8CAF4462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3038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避免每輪重試拖慢 poll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0FD6AC-A497-4839-A5A9-4AC91970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D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C58F8B-2780-4234-8393-D0734779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24325"/>
            <a:ext cx="34690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外部網路/API 例外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9EF912-AD43-4511-85B6-894EDD91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80" y="40481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03B2C7-B2DF-432E-8679-4DE43755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4124325"/>
            <a:ext cx="368427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寫 audit，不讓 runtime 直接崩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957B65-662F-409C-B899-25E148FC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4812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8FC0CF-07E2-4DE7-BF6D-5B01030D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24325"/>
            <a:ext cx="3038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便於排查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21129B-0FE1-4076-83D3-D83DEC16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00575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35"/>
          </a:solidFill>
          <a:ln xmlns:a="http://schemas.openxmlformats.org/drawingml/2006/main" w="9525">
            <a:solidFill>
              <a:srgbClr val="2D3E4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289C9A-7841-4970-A2C2-A0C3D6ED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76775"/>
            <a:ext cx="346900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state JSON 壞掉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553FFF-ABF1-49E2-AB30-CAC0D0DC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880" y="46005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B2B69B-DA67-4FE2-9465-7C594420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130" y="4676775"/>
            <a:ext cx="368427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備份 .corrupt-*，atomic write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3EEA80-D5BA-491E-A112-77D43CD0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005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E4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11D15F1-84A5-4D2B-AEB5-212A4671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76775"/>
            <a:ext cx="3038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DCE4E8"/>
                </a:solidFill>
                <a:latin typeface="PingFang TC"/>
                <a:ea typeface="PingFang TC"/>
                <a:cs typeface="PingFang TC"/>
              </a:rPr>
              <a:t>避免覆蓋證據</a:t>
            </a:r>
          </a:p>
        </p:txBody>
      </p:sp>
    </p:spTree>
    <p:extLst>
      <p:ext uri="{BB962C8B-B14F-4D97-AF65-F5344CB8AC3E}">
        <p14:creationId xmlns:p14="http://schemas.microsoft.com/office/powerpoint/2010/main" val="7339468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ACE602-7642-48D1-8E9F-4443ED72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844C2-CA68-4EBB-AF03-88F41892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PLATFORM ROUTING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DCDB4-B741-4858-B565-B2E2737A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55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LiveChat group、平台、TG topic、merchant 要固定對應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7C1EF-9C44-4262-8209-02CFD5D1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B0513-26CB-40B3-9F29-6530AAB1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BD35A-806D-4900-9519-1F5ACE54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B0A49-A296-4B95-A7E5-D56009F1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85875"/>
            <a:ext cx="914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ABB9A-4BB7-469A-B75E-F81CD7E5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71600"/>
            <a:ext cx="145542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LC group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20CCD7-B135-4097-8A23-8A4C019E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1371600"/>
            <a:ext cx="2004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525138-41C5-41D5-9424-4C43A806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1371600"/>
            <a:ext cx="29184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TG topic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8DF74-03F8-4C6E-ADE2-C2AB1C33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690" y="1371600"/>
            <a:ext cx="200406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merchant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A63AA-9915-4C86-BCEB-33C130EE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47825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C862DE-0126-4D6B-B0CE-C0CB3369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24025"/>
            <a:ext cx="14554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212F4-E010-4928-B14C-A538C96E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16478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4C3F5-B375-4DC7-87BC-EE7DA345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172402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JUE999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6B36DC-B44B-4D7A-8ADD-B250C773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16478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24A666-61BC-43F7-9EF1-F5FBAA67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1724025"/>
            <a:ext cx="2918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8BAA6E-0258-4601-8481-29FEF44F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16478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C6799-7B49-40AD-82FD-5B816CCA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690" y="172402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juecopf1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F1E123-066A-4AD5-ACA9-D76D4147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24075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8E6EF-FC7A-43F3-8D3E-24B24974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00275"/>
            <a:ext cx="14554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7CB45-33F6-4A68-8C59-EE22A274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21240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87BA4A-1B54-4723-ADE9-A9637508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220027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GNA777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9C785B-EC7C-4488-8081-100AAE5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21240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6C8A8-3A10-4AE8-A2EA-C8BB1125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2200275"/>
            <a:ext cx="2918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15372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447CF-8F51-4079-B107-775195D1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21240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B0CBD-A43C-4175-A9D6-7D16B34D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690" y="220027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gnacops1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22AA01-9105-4915-9B51-D1F10DFA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6E533-BCA7-4D04-93A0-E3853259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14554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7910C-86E0-4CE1-BA18-F9052E83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26003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6180BE-8F71-4BAB-962B-7549FDCA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267652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JG7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F37A73-6E1E-4656-9314-615001C4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26003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F24286-0A1B-4448-A4E6-5BDF68F3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2676525"/>
            <a:ext cx="2918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15371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47AF6E-0883-4B9D-8821-0A00201C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26003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15119A1-941C-4A81-B2ED-05762840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690" y="267652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jgcops1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B5522-277A-4CBB-99A3-18D304C0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76575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1FF758-7266-4442-8E35-296F1346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52775"/>
            <a:ext cx="14554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44E357-C19C-48E9-90EC-273CCE77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30765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8DC208-4538-4421-83F7-AD8585CD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315277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PAG99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892065-0522-4C0E-941C-9106210E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30765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758034-5270-4185-BB15-7C00BA4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152775"/>
            <a:ext cx="2918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18565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6C5BBE-FA68-4B47-8FAB-E45B21A6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30765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5F3FBC-CCC2-4AFF-86E5-B4CF411B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690" y="315277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pagcops1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1EF727-BD0A-4418-845A-E982A076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2825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AAB901-F748-45DB-9219-7A01CD22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29025"/>
            <a:ext cx="14554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24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9E0ACC-DE21-40DF-9855-0F2945BC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35528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85CA47-455E-44E7-9C0E-B43F9FB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362902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CUM777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02957D-8C2F-4C84-A36A-6CB327E2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35528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7D0108-CD59-4138-B12E-5E542389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3629025"/>
            <a:ext cx="2918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26447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350FDE-96C1-459D-978D-FA04B286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35528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6D9DD4D-9BE9-4B12-AA3E-AAF63811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690" y="362902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cumcops1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8D10C8-3DFD-4EAE-84FD-F4B757B2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29075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3A8F4B-D03B-4386-B6F2-8F6D7AD2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05275"/>
            <a:ext cx="14554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25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82D42E9-90F1-482D-A231-32E71533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0290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F19451-732D-4750-88B9-13E8B530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410527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CON777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A4D6FE6-D2EA-4FE6-B8AC-EADFCFA7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40290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6BDBF7-5288-462C-A225-39A32ADD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4105275"/>
            <a:ext cx="2918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29915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B9BA6D-A395-4706-B39A-4358D9D7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40290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49B56C-FA52-4DCD-802B-B4F6AE110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690" y="410527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concops1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740B43-E804-4D50-A19F-DD007DFA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38783D9-DD3D-4345-9398-1E9A140A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14554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28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6D024A2-5DB4-4FE9-A691-C69D07E3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5053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6D09B5-73AA-4D37-9850-0496154C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458152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ZAP69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898B07-181F-4E22-8C00-97E510CD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45053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C5A534-BEEF-4FD0-BEFC-A41B7E7E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4581525"/>
            <a:ext cx="2918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36735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B5C0F9D-0018-4EC2-AE32-DC5EE0F2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450532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AE7F05-089A-45F9-83F1-FE982CF9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690" y="458152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zapcops1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8525FB5-D968-4EF6-8992-CA4EF10B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81575"/>
            <a:ext cx="914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A463EB8-7F3D-4B47-83E7-604B2D17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57775"/>
            <a:ext cx="14554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23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F28CD5-27CD-4C62-B1FC-DB790155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9815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09D61FA-59E3-4B2C-A31B-26E8C691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505777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TEST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6223D35-181A-4F0D-B4F7-E0DB7661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49815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81389DF-DA52-4CED-8806-ACD56963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730" y="5057775"/>
            <a:ext cx="29184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測試群，不進正式財務 topic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FC2225B-EA06-4B6B-9576-7362F734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4981575"/>
            <a:ext cx="95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E94CF1-8C4B-43F5-A997-C8F0F147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690" y="5057775"/>
            <a:ext cx="20040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N/A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0CC32ED-8E65-4320-A7F3-324CA8C1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正式模式包含 group 23，但 group 23 的 Telegram 只送測試群；測試模式只處理 TEST group 23。</a:t>
            </a:r>
          </a:p>
        </p:txBody>
      </p:sp>
    </p:spTree>
    <p:extLst>
      <p:ext uri="{BB962C8B-B14F-4D97-AF65-F5344CB8AC3E}">
        <p14:creationId xmlns:p14="http://schemas.microsoft.com/office/powerpoint/2010/main" val="205979141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5BCB41-3180-4DCA-93B1-DF851B35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AF0C6-081D-476E-8390-859CCC47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E7A93A"/>
                </a:solidFill>
                <a:latin typeface="PingFang TC"/>
                <a:ea typeface="PingFang TC"/>
                <a:cs typeface="PingFang TC"/>
              </a:rPr>
              <a:t>TARGET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10C29-2B4A-4F05-8F9B-DF3C8F90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最終要從模板機器人，變成受客服手冊約束的 LLM 客服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D00CC-EE59-48B6-A234-DE373ACB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D2124-A250-4249-9B87-AE618A9A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C8339-F41F-44EF-AF7C-24A1ABC8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A8B2B9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A2D98-F19E-468B-898A-E1393EED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E82F5-BBA5-4818-BAED-FFFEF082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9800"/>
            <a:ext cx="1771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LLM 理解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自由文字與上下文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E6CFA-E6EB-478D-B681-CF04B943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384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899A98-5E13-4407-806F-EA9F0976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A9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747FC-012A-4206-BA50-A622A156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09800"/>
            <a:ext cx="17716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Policy Gate</a:t>
            </a:r>
          </a:p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客服手冊/禁區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2B830-446F-4ED5-9794-AAA74823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384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17201-8B05-4F14-AEE3-FD282407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19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58E23-25A4-46F6-B760-6BC5E512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9800"/>
            <a:ext cx="1962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Deterministic Tools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後台/TG/LC/state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0F3A4-A1D2-48C9-9138-030A063D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384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defRPr>
            </a:pPr>
            <a:r>
              <a:rPr sz="1800" b="1">
                <a:solidFill>
                  <a:srgbClr val="AAB6BE"/>
                </a:solidFill>
                <a:latin typeface="PingFang TC"/>
                <a:ea typeface="PingFang TC"/>
                <a:cs typeface="PingFang T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C12AC-D315-4F86-B19C-868F333A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1905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9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7745C-4BC1-48CC-91D1-B5473FD5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9800"/>
            <a:ext cx="1676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自然回覆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像真人客服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50E2B-5070-4380-863F-FA72426C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9334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2A"/>
          </a:solidFill>
          <a:ln xmlns:a="http://schemas.openxmlformats.org/drawingml/2006/main" w="9525">
            <a:solidFill>
              <a:srgbClr val="1E9B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1DBE79-7990-4289-B643-F3ED4B12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10050"/>
            <a:ext cx="8724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LLM 可以理解、選 SOP、生成自然客服語氣；但不能違背客服手冊，不能發明付款/提款/流水/帳戶狀態。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0FE485-622E-43B5-9930-5C624D5F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81625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rPr>
              <a:t>• RAG 可輔助 SOP 與範例檢索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6FFB4-A2A5-452E-ADC3-C26FE88D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67375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rPr>
              <a:t>• 所有金流/帳戶事實仍由工具或真人提供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FE5FD-FDC5-4035-806D-4D5030E2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953125"/>
            <a:ext cx="723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CFD9DE"/>
                </a:solidFill>
                <a:latin typeface="PingFang TC"/>
                <a:ea typeface="PingFang TC"/>
                <a:cs typeface="PingFang TC"/>
              </a:rPr>
              <a:t>• 每次升級都要 replay/eval 驗證</a:t>
            </a:r>
          </a:p>
        </p:txBody>
      </p:sp>
    </p:spTree>
    <p:extLst>
      <p:ext uri="{BB962C8B-B14F-4D97-AF65-F5344CB8AC3E}">
        <p14:creationId xmlns:p14="http://schemas.microsoft.com/office/powerpoint/2010/main" val="158041961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530444-ECC9-4828-844F-83D7365E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E3838-AFBB-4098-A767-80CDA5B5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975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ENGINEERING NEXT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1B1635-BA33-4B75-B45A-506D1C45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接手後要做的不是再補模板，而是穩定地升級智能能力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F9D85-23AF-41DB-8C8D-86FE5A05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2897F-FB9D-4F33-A536-47BC944A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客服機器人工程交接 SOP 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2A975-2176-41AC-A7F4-77C51241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6737C"/>
                </a:solidFill>
                <a:latin typeface="PingFang TC"/>
                <a:ea typeface="PingFang TC"/>
                <a:cs typeface="PingFang TC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71EEF-385A-49F8-A4B8-0E118A48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85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2C"/>
          </a:solidFill>
          <a:ln xmlns:a="http://schemas.openxmlformats.org/drawingml/2006/main" w="9525">
            <a:solidFill>
              <a:srgbClr val="1723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49952-9573-407D-BA15-049DC5FD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66850"/>
            <a:ext cx="2524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538EE-8FFC-4DE0-8160-7F8B331F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466850"/>
            <a:ext cx="79533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7F4ED"/>
                </a:solidFill>
                <a:latin typeface="PingFang TC"/>
                <a:ea typeface="PingFang TC"/>
                <a:cs typeface="PingFang TC"/>
              </a:rPr>
              <a:t>交付標準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DFBEB-27FB-4D6A-B315-D295CA7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6F0F6-69DA-4329-8E1A-540EBEB7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19275"/>
            <a:ext cx="2524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1. 接手盤點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874FD-7C0E-4350-AC9A-4C0A5E9C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43075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71D12-033B-4BB8-BE45-DECB3D8A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19275"/>
            <a:ext cx="7953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確認正式 process / .env / LiveChat / Telegram / 後台 API；整理 repo 與部署回滾方式。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48B1E-FB61-4F8D-B117-53F64133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145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C47FB-6EF8-4C49-A948-D395E8E0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2524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2. 文件與測試對齊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FB951-19D7-4697-8D2D-3FF0D978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14575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9131A-6AEF-48F2-9FD4-09E738E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90775"/>
            <a:ext cx="7953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把舊 SOP、現行 state machine、batch oracle 對齊；移除不再正確的判斷。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AEE6C0-BBA9-485D-9AB9-BE6A2C0D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21AF1-124E-4056-98E7-0EBBF9B7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62275"/>
            <a:ext cx="2524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3. 補缺口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149C8-ACED-41F9-9325-05203B16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86075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488B4-EFB6-4CF1-ADEB-37036C49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62275"/>
            <a:ext cx="7953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Telegram callback 字卡、舊 runtime mapping/pending reply 相容、正式長時間 health 監控。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A04E6-F2A1-4D9A-8273-D591442C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025A1-4C5A-4A8B-B6D2-57E7D7E5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524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4. LLM classifier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B5CE28-C9F2-400E-AAB2-E5E5B71C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57575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8CC167-2E8A-4AC6-8DFB-41159A9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33775"/>
            <a:ext cx="7953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先只做意圖/情境判斷，不直接執行金流動作；所有 action 仍過 deterministic gate。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1294BD-A09F-45FA-AB57-BFCFBE52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90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F13C2F-2B21-4441-B293-498C1F7B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2524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5. RAG/自然回覆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35BC4F-AA72-4238-8A37-78E5F51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29075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DCE8CB-D533-4C82-BDEA-2A11BCED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05275"/>
            <a:ext cx="7953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用客服手冊與歷史對話產生更像真人的回覆，並用 guardrails 防止違規與幻覺。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1FA8F3-8B75-4746-A945-73A3B95D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00575"/>
            <a:ext cx="1085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4CA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610D28-EE62-44C4-8A87-42ECBA66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2524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6. Eval 上線門檻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CD2425-D4A7-4E8D-8068-7675CFAC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00575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A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5C55A7-7354-482E-9FFE-C89D5864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6775"/>
            <a:ext cx="7953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101820"/>
                </a:solidFill>
                <a:latin typeface="PingFang TC"/>
                <a:ea typeface="PingFang TC"/>
                <a:cs typeface="PingFang TC"/>
              </a:rPr>
              <a:t>deposit/withdrawal/rollover/handoff/waiting_backend/TG reply 都要有 replay 與負例。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E9A8D8-10EE-4D7E-8631-8F17DE26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95C4A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5C4A"/>
                </a:solidFill>
                <a:latin typeface="PingFang TC"/>
                <a:ea typeface="PingFang TC"/>
                <a:cs typeface="PingFang TC"/>
              </a:rPr>
              <a:t>目標：客戶怎麼回，機器人都能判斷該做什麼，但所有動作都不能越過客服手冊與金流事實。</a:t>
            </a:r>
          </a:p>
        </p:txBody>
      </p:sp>
    </p:spTree>
    <p:extLst>
      <p:ext uri="{BB962C8B-B14F-4D97-AF65-F5344CB8AC3E}">
        <p14:creationId xmlns:p14="http://schemas.microsoft.com/office/powerpoint/2010/main" val="1724478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2026-06-12T05:12:47.3380000Z</dcterms:created>
  <dcterms:modified xsi:type="dcterms:W3CDTF">2026-06-12T05:12:47.3380000Z</dcterms:modified>
</coreProperties>
</file>